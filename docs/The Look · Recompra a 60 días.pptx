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5131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Presentarse en una frase. Objetivo de la charla: mostrar cómo pasé de los datos crudos a una recomendación accionable para retener clientes nuevos, y cómo lo operaría en AWS. Adelantar el giro de la historia: el mejor resultado no fue el modelo más complejo, sino una regla de una variable, y explicaré por qué.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de negocio: apenas un cliente hace su primera compra, ¿qué probabilidad tiene de volver a comprar en 60 días? Con esa probabilidad se decide a quién dirigir la retención. Tres decisiones de diseño: 1) la recompra se cuenta a nivel orden, no ítem; 2) solo uso información disponible el día de la primera compra, para evitar fuga de información; 3) los clientes que aún no cumplen 60 días no se etiquetan como "no recompra", porque todavía no lo sabemos: esos son justamente los que se puntúan.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modelar ejecuté 15 controles: duplicados en claves, nulos, registros sin correspondencia entre tablas y consistencia (por ejemplo, que num_of_item cuadre con los ítems reales). 14 dieron cero; el único distinto de cero son 1.1 millones de eventos anónimos, que es esperado. Aun así, la tabla base mantiene deduplicación y filtros, porque el proceso debe ser repetible con datos nuevos. Todas las tablas se agregan a nivel cliente u orden antes de unirlas, para que ningún join duplique filas: la tabla final tiene 72,027 filas y 72,027 clientes.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hallazgos que definen todo lo demás. Primero, la recompra es un evento minoritario: por eso no uso exactitud, sino PR AUC y métricas en el top 10 y 20% de clientes, que es como se usa en una campaña. Segundo, la tasa cambió mucho en el tiempo: 4.4% en el período de entrenamiento y 12.8% en el de prueba. Una separación aleatoria habría escondido este cambio. Tercero, solo una de cada cuatro segundas compras ocurre en 60 días: la mayoría llega después, lo que abre la puerta a una segunda campaña de reactivación.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separación es temporal, no aleatoria: entreno con las cohortes antiguas y evalúo con las más recientes, porque así se usa el modelo en la realidad. Entre ambos períodos dejo una brecha de 60 días: la etiqueta de un cliente se observa durante los 60 días siguientes a su compra, y sin esa brecha las etiquetas de entrenamiento usarían información del período de prueba. Comparo cinco candidatos con el mismo preprocesamiento. La regla simple la agregué después del diagnóstico que muestro en dos diapositivas. Todo corre automáticamente con run_pipeline, y reejecutar no duplica resultados.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candidatos superan al azar: PR AUC entre 0.21 y 0.27 frente a 0.128. Pero el mejor no fue un modelo de machine learning: fue ordenar a los clientes solo por los días entre su registro y su primera compra. En el top 10%, la regla logra 32% de precisión, 2.5 veces la tasa base, y con el 20% captura casi la mitad de las recompras. LightGBM quedó por debajo del HistGradientBoosting; con una señal tan concentrada, el algoritmo importa menos que las variables. Para el azar muestro el valor esperado: precisión igual a la tasa base y lift de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hallazgo central. La importancia de variables mostró que una sola dominaba, así que la cuestioné. Cuanto antes compra el cliente tras registrarse, más recompra: de 18.9% a 3.4%. Y si quito esa variable, el modelo cae a 0.136, casi el azar. No es fuga de información: la variable se conoce el día de la primera compra. Pero la recompra también sube siete veces según el año de registro, algo que ningún negocio real muestra sin causa. Mi lectura: parte de la señal viene de cómo se generaron los datos sintéticos, probablemente repartiendo las compras de cada cliente entre su registro y el final de los datos. Eso también explica por qué la regla le gana al modelo: el modelo aprende en el entrenamiento una relación mezclada con el tiempo, mientras que la regla solo usa el orden. Conclusión: antes de producción, validar con datos reales.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traduce a decisiones. La tasa de recompra cae de forma ordenada por decil: 32% en el decil 1 y menos de 3% en el decil 10. Tres acciones: primero, campaña de retención para los 848 clientes recientes del decil 1; segundo, no gastar en los deciles 8 a 10, que casi no recompran; tercero, como la ventana crítica son los primeros 30 días tras el registro, conviene una secuencia de onboarding para clientes nuevos. Para medir el impacto real, propongo un grupo de control: el modelo dice quién tiene más probabilidad de comprar, pero solo un experimento dice si la campaña cambia ese comportamiento.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fila, datos: los datos llegan a S3, Glue Data Quality valida volumen, nulos y unicidad, y Athena ejecuta el mismo SQL de la tabla base, que se guarda en Parquet particionado. Segunda fila, ML: EventBridge dispara SageMaker Pipelines una vez al mes o cuando se detecta drift; el pipeline entrena, evalúa y compara al campeón actual contra los retadores, y el Model Registry guarda la versión aprobada. Batch Transform puntúa cada semana a los clientes nuevos; las predicciones van a S3 y a Snowflake por Snowpipe, desde donde las consume el CRM. Tercera fila, operación: alertas de calidad, drift de la variable clave y del score, y desempeño real, que solo se conoce 60 días después. Dado lo que encontramos, el monitoreo de drift de la variable de días entre registro y compra es lo más importante.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la recomendación. Empezar con la regla simple: es la que mejor rinde, cualquier persona del equipo comercial la entiende y casi no cuesta operarla. Medir el impacto con un grupo de control. Y dejar el pipeline de machine learning listo como retador: cuando haya variables con señal real, el mismo pipeline compara de nuevo y cambia de modelo solo si gana. Las limitaciones son claras: la señal está concentrada en una variable cuya relación cambia en el tiempo, la regla se descubrió mirando el período de prueba y las probabilidades no están calibradas. Los próximos pasos atacan exactamente esos puntos. Abrir preguntas.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68270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115265"/>
            <a:ext cx="10566400" cy="3929935"/>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68270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115265"/>
            <a:ext cx="10566400" cy="3929935"/>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A5D"/>
                </a:solidFill>
                <a:latin typeface="IBM Plex Sans" pitchFamily="34" charset="0"/>
                <a:ea typeface="IBM Plex Sans" pitchFamily="34" charset="-122"/>
                <a:cs typeface="IBM Plex Sans" pitchFamily="34" charset="-120"/>
              </a:rPr>
              <a:t>CASO PRÁCTICO · MACHINE LEARNING ENGINEER</a:t>
            </a:r>
            <a:endParaRPr lang="en-US" sz="1200" dirty="0"/>
          </a:p>
        </p:txBody>
      </p:sp>
      <p:sp>
        <p:nvSpPr>
          <p:cNvPr id="3" name="Text 1"/>
          <p:cNvSpPr>
            <a:spLocks noGrp="1"/>
          </p:cNvSpPr>
          <p:nvPr>
            <p:ph type="title"/>
          </p:nvPr>
        </p:nvSpPr>
        <p:spPr>
          <a:xfrm>
            <a:off x="812800" y="2149396"/>
            <a:ext cx="9810750" cy="2000409"/>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6F4EF"/>
                </a:solidFill>
                <a:latin typeface="Source Serif 4" pitchFamily="18" charset="0"/>
                <a:ea typeface="Source Serif 4" pitchFamily="18" charset="-122"/>
                <a:cs typeface="Source Serif 4" pitchFamily="18" charset="-120"/>
              </a:rPr>
              <a:t>¿Quién vuelve a comprar en los 60 días siguientes a su primera compra?</a:t>
            </a:r>
            <a:endParaRPr lang="en-US" sz="4800" dirty="0"/>
          </a:p>
        </p:txBody>
      </p:sp>
      <p:sp>
        <p:nvSpPr>
          <p:cNvPr id="4" name="Text 2"/>
          <p:cNvSpPr/>
          <p:nvPr/>
        </p:nvSpPr>
        <p:spPr>
          <a:xfrm>
            <a:off x="812800" y="4378404"/>
            <a:ext cx="9156700" cy="32004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C9D1E0"/>
                </a:solidFill>
                <a:latin typeface="IBM Plex Sans" pitchFamily="34" charset="0"/>
                <a:ea typeface="IBM Plex Sans" pitchFamily="34" charset="-122"/>
                <a:cs typeface="IBM Plex Sans" pitchFamily="34" charset="-120"/>
              </a:rPr>
              <a:t>Recompra en The Look · SQL en BigQuery, pipeline en Python y arquitectura en AWS</a:t>
            </a:r>
            <a:endParaRPr lang="en-US" sz="1600" dirty="0"/>
          </a:p>
        </p:txBody>
      </p:sp>
      <p:sp>
        <p:nvSpPr>
          <p:cNvPr id="5" name="Text 3"/>
          <p:cNvSpPr/>
          <p:nvPr/>
        </p:nvSpPr>
        <p:spPr>
          <a:xfrm>
            <a:off x="812800" y="5796280"/>
            <a:ext cx="165096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Williams Ccompi</a:t>
            </a:r>
            <a:endParaRPr lang="en-US" sz="1400" dirty="0"/>
          </a:p>
        </p:txBody>
      </p:sp>
      <p:sp>
        <p:nvSpPr>
          <p:cNvPr id="6" name="Text 4"/>
          <p:cNvSpPr/>
          <p:nvPr/>
        </p:nvSpPr>
        <p:spPr>
          <a:xfrm>
            <a:off x="10044176" y="5796280"/>
            <a:ext cx="1335024" cy="27432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C9D1E0"/>
                </a:solidFill>
                <a:latin typeface="IBM Plex Sans" pitchFamily="34" charset="0"/>
                <a:ea typeface="IBM Plex Sans" pitchFamily="34" charset="-122"/>
                <a:cs typeface="IBM Plex Sans" pitchFamily="34" charset="-120"/>
              </a:rPr>
              <a:t>Octubre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461A"/>
                </a:solidFill>
                <a:latin typeface="IBM Plex Sans" pitchFamily="34" charset="0"/>
                <a:ea typeface="IBM Plex Sans" pitchFamily="34" charset="-122"/>
                <a:cs typeface="IBM Plex Sans" pitchFamily="34" charset="-120"/>
              </a:rPr>
              <a:t>OBJETIVO</a:t>
            </a:r>
            <a:endParaRPr lang="en-US" sz="1200" dirty="0"/>
          </a:p>
        </p:txBody>
      </p:sp>
      <p:sp>
        <p:nvSpPr>
          <p:cNvPr id="3" name="Text 1"/>
          <p:cNvSpPr>
            <a:spLocks noGrp="1"/>
          </p:cNvSpPr>
          <p:nvPr>
            <p:ph type="title"/>
          </p:nvPr>
        </p:nvSpPr>
        <p:spPr>
          <a:xfrm>
            <a:off x="812800" y="1127760"/>
            <a:ext cx="10883392" cy="935673"/>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14213D"/>
                </a:solidFill>
                <a:latin typeface="Source Serif 4" pitchFamily="18" charset="0"/>
                <a:ea typeface="Source Serif 4" pitchFamily="18" charset="-122"/>
                <a:cs typeface="Source Serif 4" pitchFamily="18" charset="-120"/>
              </a:rPr>
              <a:t>Priorizar, el mismo día de su primera compra, a quién retener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302193"/>
          <a:ext cx="10556240" cy="2301240"/>
        </p:xfrm>
        <a:graphic>
          <a:graphicData uri="http://schemas.openxmlformats.org/drawingml/2006/table">
            <a:tbl>
              <a:tblPr/>
              <a:tblGrid>
                <a:gridCol w="3166872">
                  <a:extLst>
                    <a:ext uri="{9D8B030D-6E8A-4147-A177-3AD203B41FA5}">
                      <a16:colId xmlns:a16="http://schemas.microsoft.com/office/drawing/2014/main" val="20000"/>
                    </a:ext>
                  </a:extLst>
                </a:gridCol>
                <a:gridCol w="7389368">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Concepto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Definición</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Unidad de análisis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Una fila por cliente con al menos una orden no cancelada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Primera compra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Primera orden válida por fecha (desempate por order_id)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Recompra (etiqueta)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Otra orden distinta dentro de los 60 días siguientes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Momento de predicción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La fecha de la primera compra: solo datos conocidos ese día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Clientes recientes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Sin 60 días de historia: no se entrenan, se puntúan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857433"/>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Clasificación binaria con clases desbalanceadas: </a:t>
            </a:r>
            <a:r>
              <a:rPr lang="en-US" sz="1400" b="1" dirty="0">
                <a:solidFill>
                  <a:srgbClr val="14213D"/>
                </a:solidFill>
                <a:latin typeface="IBM Plex Sans" pitchFamily="34" charset="0"/>
                <a:ea typeface="IBM Plex Sans" pitchFamily="34" charset="-122"/>
                <a:cs typeface="IBM Plex Sans" pitchFamily="34" charset="-120"/>
              </a:rPr>
              <a:t>solo 6.3% de los clientes recompra</a:t>
            </a: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6" name="Text 3"/>
          <p:cNvSpPr/>
          <p:nvPr/>
        </p:nvSpPr>
        <p:spPr>
          <a:xfrm>
            <a:off x="812800" y="6238241"/>
            <a:ext cx="25119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The Look · Recompra a 60 días</a:t>
            </a:r>
            <a:endParaRPr lang="en-US" sz="1200" dirty="0"/>
          </a:p>
        </p:txBody>
      </p:sp>
      <p:sp>
        <p:nvSpPr>
          <p:cNvPr id="7" name="Text 4"/>
          <p:cNvSpPr/>
          <p:nvPr/>
        </p:nvSpPr>
        <p:spPr>
          <a:xfrm>
            <a:off x="11236960" y="6238241"/>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461A"/>
                </a:solidFill>
                <a:latin typeface="IBM Plex Sans" pitchFamily="34" charset="0"/>
                <a:ea typeface="IBM Plex Sans" pitchFamily="34" charset="-122"/>
                <a:cs typeface="IBM Plex Sans" pitchFamily="34" charset="-120"/>
              </a:rPr>
              <a:t>DATOS Y CALIDAD</a:t>
            </a:r>
            <a:endParaRPr lang="en-US" sz="1200" dirty="0"/>
          </a:p>
        </p:txBody>
      </p:sp>
      <p:sp>
        <p:nvSpPr>
          <p:cNvPr id="3" name="Text 1"/>
          <p:cNvSpPr>
            <a:spLocks noGrp="1"/>
          </p:cNvSpPr>
          <p:nvPr>
            <p:ph type="title"/>
          </p:nvPr>
        </p:nvSpPr>
        <p:spPr>
          <a:xfrm>
            <a:off x="812800" y="1127761"/>
            <a:ext cx="10883392" cy="480536"/>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14213D"/>
                </a:solidFill>
                <a:latin typeface="Source Serif 4" pitchFamily="18" charset="0"/>
                <a:ea typeface="Source Serif 4" pitchFamily="18" charset="-122"/>
                <a:cs typeface="Source Serif 4" pitchFamily="18" charset="-120"/>
              </a:rPr>
              <a:t>Datos limpios: 14 de 15 controles de calidad en cero</a:t>
            </a:r>
            <a:endParaRPr lang="en-US" sz="3200" dirty="0"/>
          </a:p>
        </p:txBody>
      </p:sp>
      <p:sp>
        <p:nvSpPr>
          <p:cNvPr id="4" name="Text 2"/>
          <p:cNvSpPr/>
          <p:nvPr/>
        </p:nvSpPr>
        <p:spPr>
          <a:xfrm>
            <a:off x="815975" y="2489042"/>
            <a:ext cx="1574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124,596</a:t>
            </a:r>
            <a:endParaRPr lang="en-US" sz="2200" dirty="0"/>
          </a:p>
        </p:txBody>
      </p:sp>
      <p:sp>
        <p:nvSpPr>
          <p:cNvPr id="5" name="Text 3"/>
          <p:cNvSpPr/>
          <p:nvPr/>
        </p:nvSpPr>
        <p:spPr>
          <a:xfrm>
            <a:off x="2492375" y="2600801"/>
            <a:ext cx="258279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órdenes (2019 – feb 2025)</a:t>
            </a:r>
            <a:endParaRPr lang="en-US" sz="1400" dirty="0"/>
          </a:p>
        </p:txBody>
      </p:sp>
      <p:sp>
        <p:nvSpPr>
          <p:cNvPr id="6" name="Text 4"/>
          <p:cNvSpPr/>
          <p:nvPr/>
        </p:nvSpPr>
        <p:spPr>
          <a:xfrm>
            <a:off x="815975" y="3007201"/>
            <a:ext cx="1574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72,027</a:t>
            </a:r>
            <a:endParaRPr lang="en-US" sz="2200" dirty="0"/>
          </a:p>
        </p:txBody>
      </p:sp>
      <p:sp>
        <p:nvSpPr>
          <p:cNvPr id="7" name="Text 5"/>
          <p:cNvSpPr/>
          <p:nvPr/>
        </p:nvSpPr>
        <p:spPr>
          <a:xfrm>
            <a:off x="2492375" y="3118962"/>
            <a:ext cx="355803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clientes con compra válida (7,985 solo cancelaron)</a:t>
            </a:r>
            <a:endParaRPr lang="en-US" sz="1400" dirty="0"/>
          </a:p>
        </p:txBody>
      </p:sp>
      <p:sp>
        <p:nvSpPr>
          <p:cNvPr id="8" name="Text 6"/>
          <p:cNvSpPr/>
          <p:nvPr/>
        </p:nvSpPr>
        <p:spPr>
          <a:xfrm>
            <a:off x="815975" y="3743801"/>
            <a:ext cx="1574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IBM Plex Sans" pitchFamily="34" charset="0"/>
                <a:ea typeface="IBM Plex Sans" pitchFamily="34" charset="-122"/>
                <a:cs typeface="IBM Plex Sans" pitchFamily="34" charset="-120"/>
              </a:rPr>
              <a:t>63,538</a:t>
            </a:r>
            <a:endParaRPr lang="en-US" sz="2200" dirty="0"/>
          </a:p>
        </p:txBody>
      </p:sp>
      <p:sp>
        <p:nvSpPr>
          <p:cNvPr id="9" name="Text 7"/>
          <p:cNvSpPr/>
          <p:nvPr/>
        </p:nvSpPr>
        <p:spPr>
          <a:xfrm>
            <a:off x="2492375" y="3855562"/>
            <a:ext cx="355803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con 60 días de historia: entrenamiento y prueba</a:t>
            </a:r>
            <a:endParaRPr lang="en-US" sz="1400" dirty="0"/>
          </a:p>
        </p:txBody>
      </p:sp>
      <p:sp>
        <p:nvSpPr>
          <p:cNvPr id="10" name="Text 8"/>
          <p:cNvSpPr/>
          <p:nvPr/>
        </p:nvSpPr>
        <p:spPr>
          <a:xfrm>
            <a:off x="815975" y="4480401"/>
            <a:ext cx="1574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461A"/>
                </a:solidFill>
                <a:latin typeface="IBM Plex Sans" pitchFamily="34" charset="0"/>
                <a:ea typeface="IBM Plex Sans" pitchFamily="34" charset="-122"/>
                <a:cs typeface="IBM Plex Sans" pitchFamily="34" charset="-120"/>
              </a:rPr>
              <a:t>8,489</a:t>
            </a:r>
            <a:endParaRPr lang="en-US" sz="2200" dirty="0"/>
          </a:p>
        </p:txBody>
      </p:sp>
      <p:sp>
        <p:nvSpPr>
          <p:cNvPr id="11" name="Text 9"/>
          <p:cNvSpPr/>
          <p:nvPr/>
        </p:nvSpPr>
        <p:spPr>
          <a:xfrm>
            <a:off x="2492375" y="4592162"/>
            <a:ext cx="287226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clientes recientes: se puntúan</a:t>
            </a:r>
            <a:endParaRPr lang="en-US" sz="1400" dirty="0"/>
          </a:p>
        </p:txBody>
      </p:sp>
      <p:sp>
        <p:nvSpPr>
          <p:cNvPr id="12" name="Shape 10"/>
          <p:cNvSpPr/>
          <p:nvPr/>
        </p:nvSpPr>
        <p:spPr>
          <a:xfrm>
            <a:off x="6254750" y="2492217"/>
            <a:ext cx="5124450" cy="2376170"/>
          </a:xfrm>
          <a:prstGeom prst="roundRect">
            <a:avLst>
              <a:gd name="adj" fmla="val 4142"/>
            </a:avLst>
          </a:prstGeom>
          <a:solidFill>
            <a:srgbClr val="FDFCF9"/>
          </a:solidFill>
          <a:ln w="6350">
            <a:solidFill>
              <a:srgbClr val="E3DFD5"/>
            </a:solidFill>
            <a:prstDash val="solid"/>
          </a:ln>
        </p:spPr>
        <p:txBody>
          <a:bodyPr/>
          <a:lstStyle/>
          <a:p>
            <a:endParaRPr lang="es-PE"/>
          </a:p>
        </p:txBody>
      </p:sp>
      <p:sp>
        <p:nvSpPr>
          <p:cNvPr id="13" name="Text 11"/>
          <p:cNvSpPr/>
          <p:nvPr/>
        </p:nvSpPr>
        <p:spPr>
          <a:xfrm>
            <a:off x="6510655" y="2748121"/>
            <a:ext cx="475101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Decisiones</a:t>
            </a:r>
            <a:endParaRPr lang="en-US" sz="1600" dirty="0"/>
          </a:p>
        </p:txBody>
      </p:sp>
      <p:sp>
        <p:nvSpPr>
          <p:cNvPr id="14" name="Text 12"/>
          <p:cNvSpPr/>
          <p:nvPr/>
        </p:nvSpPr>
        <p:spPr>
          <a:xfrm>
            <a:off x="6588887" y="3093562"/>
            <a:ext cx="4665167" cy="1518920"/>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Se excluyen las órdenes canceladas (15%)</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Devueltas sí cuentan: la compra ocurrió</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Sin datos posteriores a la 1.ª compra: estado final, envíos, eventos</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Sin datos personales (nombre, email, dirección)</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1.1 M eventos anónimos: no se atribuyen</a:t>
            </a:r>
            <a:endParaRPr lang="en-US" sz="1400" dirty="0"/>
          </a:p>
        </p:txBody>
      </p:sp>
      <p:sp>
        <p:nvSpPr>
          <p:cNvPr id="15" name="Text 13"/>
          <p:cNvSpPr/>
          <p:nvPr/>
        </p:nvSpPr>
        <p:spPr>
          <a:xfrm>
            <a:off x="812800" y="6238241"/>
            <a:ext cx="25119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The Look · Recompra a 60 días</a:t>
            </a:r>
            <a:endParaRPr lang="en-US" sz="1200" dirty="0"/>
          </a:p>
        </p:txBody>
      </p:sp>
      <p:sp>
        <p:nvSpPr>
          <p:cNvPr id="16" name="Text 14"/>
          <p:cNvSpPr/>
          <p:nvPr/>
        </p:nvSpPr>
        <p:spPr>
          <a:xfrm>
            <a:off x="11236960" y="6238241"/>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461A"/>
                </a:solidFill>
                <a:latin typeface="IBM Plex Sans" pitchFamily="34" charset="0"/>
                <a:ea typeface="IBM Plex Sans" pitchFamily="34" charset="-122"/>
                <a:cs typeface="IBM Plex Sans" pitchFamily="34" charset="-120"/>
              </a:rPr>
              <a:t>ANÁLISIS EXPLORATORIO</a:t>
            </a:r>
            <a:endParaRPr lang="en-US" sz="1200" dirty="0"/>
          </a:p>
        </p:txBody>
      </p:sp>
      <p:sp>
        <p:nvSpPr>
          <p:cNvPr id="3" name="Text 1"/>
          <p:cNvSpPr>
            <a:spLocks noGrp="1"/>
          </p:cNvSpPr>
          <p:nvPr>
            <p:ph type="title"/>
          </p:nvPr>
        </p:nvSpPr>
        <p:spPr>
          <a:xfrm>
            <a:off x="812800" y="1127761"/>
            <a:ext cx="10883392" cy="935673"/>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14213D"/>
                </a:solidFill>
                <a:latin typeface="Source Serif 4" pitchFamily="18" charset="0"/>
                <a:ea typeface="Source Serif 4" pitchFamily="18" charset="-122"/>
                <a:cs typeface="Source Serif 4" pitchFamily="18" charset="-120"/>
              </a:rPr>
              <a:t>La recompra es poco frecuente y se triplicó en las cohortes recientes</a:t>
            </a:r>
            <a:endParaRPr lang="en-US" sz="3200" dirty="0"/>
          </a:p>
        </p:txBody>
      </p:sp>
      <p:sp>
        <p:nvSpPr>
          <p:cNvPr id="4" name="Shape 2"/>
          <p:cNvSpPr/>
          <p:nvPr/>
        </p:nvSpPr>
        <p:spPr>
          <a:xfrm>
            <a:off x="819150" y="2439988"/>
            <a:ext cx="3380264" cy="1695450"/>
          </a:xfrm>
          <a:prstGeom prst="roundRect">
            <a:avLst>
              <a:gd name="adj" fmla="val 5805"/>
            </a:avLst>
          </a:prstGeom>
          <a:solidFill>
            <a:srgbClr val="FDFCF9"/>
          </a:solidFill>
          <a:ln w="6350">
            <a:solidFill>
              <a:srgbClr val="E3DFD5"/>
            </a:solidFill>
            <a:prstDash val="solid"/>
          </a:ln>
        </p:spPr>
        <p:txBody>
          <a:bodyPr/>
          <a:lstStyle/>
          <a:p>
            <a:endParaRPr lang="es-PE"/>
          </a:p>
        </p:txBody>
      </p:sp>
      <p:sp>
        <p:nvSpPr>
          <p:cNvPr id="5" name="Text 3"/>
          <p:cNvSpPr/>
          <p:nvPr/>
        </p:nvSpPr>
        <p:spPr>
          <a:xfrm>
            <a:off x="1075055" y="2695894"/>
            <a:ext cx="2954507"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213D"/>
                </a:solidFill>
                <a:latin typeface="Source Serif 4" pitchFamily="18" charset="0"/>
                <a:ea typeface="Source Serif 4" pitchFamily="18" charset="-122"/>
                <a:cs typeface="Source Serif 4" pitchFamily="18" charset="-120"/>
              </a:rPr>
              <a:t>6.3%</a:t>
            </a:r>
            <a:endParaRPr lang="en-US" sz="4800" dirty="0"/>
          </a:p>
        </p:txBody>
      </p:sp>
      <p:sp>
        <p:nvSpPr>
          <p:cNvPr id="6" name="Text 4"/>
          <p:cNvSpPr/>
          <p:nvPr/>
        </p:nvSpPr>
        <p:spPr>
          <a:xfrm>
            <a:off x="1075055" y="3381694"/>
            <a:ext cx="295450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recompra a 60 días en todo el histórico: 1 de cada 16 clientes</a:t>
            </a:r>
            <a:endParaRPr lang="en-US" sz="1400" dirty="0"/>
          </a:p>
        </p:txBody>
      </p:sp>
      <p:sp>
        <p:nvSpPr>
          <p:cNvPr id="7" name="Shape 5"/>
          <p:cNvSpPr/>
          <p:nvPr/>
        </p:nvSpPr>
        <p:spPr>
          <a:xfrm>
            <a:off x="4408964" y="2439988"/>
            <a:ext cx="3380343" cy="1695450"/>
          </a:xfrm>
          <a:prstGeom prst="roundRect">
            <a:avLst>
              <a:gd name="adj" fmla="val 5805"/>
            </a:avLst>
          </a:prstGeom>
          <a:solidFill>
            <a:srgbClr val="FDFCF9"/>
          </a:solidFill>
          <a:ln w="6350">
            <a:solidFill>
              <a:srgbClr val="E3DFD5"/>
            </a:solidFill>
            <a:prstDash val="solid"/>
          </a:ln>
        </p:spPr>
        <p:txBody>
          <a:bodyPr/>
          <a:lstStyle/>
          <a:p>
            <a:endParaRPr lang="es-PE"/>
          </a:p>
        </p:txBody>
      </p:sp>
      <p:sp>
        <p:nvSpPr>
          <p:cNvPr id="8" name="Text 6"/>
          <p:cNvSpPr/>
          <p:nvPr/>
        </p:nvSpPr>
        <p:spPr>
          <a:xfrm>
            <a:off x="4664869" y="2695894"/>
            <a:ext cx="2954589"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B4461A"/>
                </a:solidFill>
                <a:latin typeface="Source Serif 4" pitchFamily="18" charset="0"/>
                <a:ea typeface="Source Serif 4" pitchFamily="18" charset="-122"/>
                <a:cs typeface="Source Serif 4" pitchFamily="18" charset="-120"/>
              </a:rPr>
              <a:t>×2.9</a:t>
            </a:r>
            <a:endParaRPr lang="en-US" sz="4800" dirty="0"/>
          </a:p>
        </p:txBody>
      </p:sp>
      <p:sp>
        <p:nvSpPr>
          <p:cNvPr id="9" name="Text 7"/>
          <p:cNvSpPr/>
          <p:nvPr/>
        </p:nvSpPr>
        <p:spPr>
          <a:xfrm>
            <a:off x="4664869" y="3381694"/>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de 4.4% (2019 – may 2024) a 12.8% (jul – dic 2024)</a:t>
            </a:r>
            <a:endParaRPr lang="en-US" sz="1400" dirty="0"/>
          </a:p>
        </p:txBody>
      </p:sp>
      <p:sp>
        <p:nvSpPr>
          <p:cNvPr id="10" name="Shape 8"/>
          <p:cNvSpPr/>
          <p:nvPr/>
        </p:nvSpPr>
        <p:spPr>
          <a:xfrm>
            <a:off x="7998857" y="2439988"/>
            <a:ext cx="3380343" cy="1695450"/>
          </a:xfrm>
          <a:prstGeom prst="roundRect">
            <a:avLst>
              <a:gd name="adj" fmla="val 5805"/>
            </a:avLst>
          </a:prstGeom>
          <a:solidFill>
            <a:srgbClr val="FDFCF9"/>
          </a:solidFill>
          <a:ln w="6350">
            <a:solidFill>
              <a:srgbClr val="E3DFD5"/>
            </a:solidFill>
            <a:prstDash val="solid"/>
          </a:ln>
        </p:spPr>
        <p:txBody>
          <a:bodyPr/>
          <a:lstStyle/>
          <a:p>
            <a:endParaRPr lang="es-PE"/>
          </a:p>
        </p:txBody>
      </p:sp>
      <p:sp>
        <p:nvSpPr>
          <p:cNvPr id="11" name="Text 9"/>
          <p:cNvSpPr/>
          <p:nvPr/>
        </p:nvSpPr>
        <p:spPr>
          <a:xfrm>
            <a:off x="8254762" y="2695894"/>
            <a:ext cx="2954589"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213D"/>
                </a:solidFill>
                <a:latin typeface="Source Serif 4" pitchFamily="18" charset="0"/>
                <a:ea typeface="Source Serif 4" pitchFamily="18" charset="-122"/>
                <a:cs typeface="Source Serif 4" pitchFamily="18" charset="-120"/>
              </a:rPr>
              <a:t>24%</a:t>
            </a:r>
            <a:endParaRPr lang="en-US" sz="4800" dirty="0"/>
          </a:p>
        </p:txBody>
      </p:sp>
      <p:sp>
        <p:nvSpPr>
          <p:cNvPr id="12" name="Text 10"/>
          <p:cNvSpPr/>
          <p:nvPr/>
        </p:nvSpPr>
        <p:spPr>
          <a:xfrm>
            <a:off x="8254762" y="3381694"/>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de las segundas compras llega dentro de los 60 días</a:t>
            </a:r>
            <a:endParaRPr lang="en-US" sz="1400" dirty="0"/>
          </a:p>
        </p:txBody>
      </p:sp>
      <p:sp>
        <p:nvSpPr>
          <p:cNvPr id="13" name="Text 11"/>
          <p:cNvSpPr/>
          <p:nvPr/>
        </p:nvSpPr>
        <p:spPr>
          <a:xfrm>
            <a:off x="815975" y="4443413"/>
            <a:ext cx="1088339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Implicancias:</a:t>
            </a:r>
            <a:r>
              <a:rPr lang="en-US" sz="1400" dirty="0">
                <a:solidFill>
                  <a:srgbClr val="4A5568"/>
                </a:solidFill>
                <a:latin typeface="IBM Plex Sans" pitchFamily="34" charset="0"/>
                <a:ea typeface="IBM Plex Sans" pitchFamily="34" charset="-122"/>
                <a:cs typeface="IBM Plex Sans" pitchFamily="34" charset="-120"/>
              </a:rPr>
              <a:t> la exactitud engaña (decir “nadie recompra” acierta 93.7%), así que uso PR AUC y top-k; y la separación de datos debe ser temporal.</a:t>
            </a:r>
            <a:endParaRPr lang="en-US" sz="1400" dirty="0"/>
          </a:p>
        </p:txBody>
      </p:sp>
      <p:sp>
        <p:nvSpPr>
          <p:cNvPr id="14" name="Text 12"/>
          <p:cNvSpPr/>
          <p:nvPr/>
        </p:nvSpPr>
        <p:spPr>
          <a:xfrm>
            <a:off x="812800" y="6238239"/>
            <a:ext cx="25119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The Look · Recompra a 60 días</a:t>
            </a:r>
            <a:endParaRPr lang="en-US" sz="1200" dirty="0"/>
          </a:p>
        </p:txBody>
      </p:sp>
      <p:sp>
        <p:nvSpPr>
          <p:cNvPr id="15" name="Text 13"/>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461A"/>
                </a:solidFill>
                <a:latin typeface="IBM Plex Sans" pitchFamily="34" charset="0"/>
                <a:ea typeface="IBM Plex Sans" pitchFamily="34" charset="-122"/>
                <a:cs typeface="IBM Plex Sans" pitchFamily="34" charset="-120"/>
              </a:rPr>
              <a:t>ENFOQUE</a:t>
            </a:r>
            <a:endParaRPr lang="en-US" sz="1200" dirty="0"/>
          </a:p>
        </p:txBody>
      </p:sp>
      <p:sp>
        <p:nvSpPr>
          <p:cNvPr id="3" name="Text 1"/>
          <p:cNvSpPr>
            <a:spLocks noGrp="1"/>
          </p:cNvSpPr>
          <p:nvPr>
            <p:ph type="title"/>
          </p:nvPr>
        </p:nvSpPr>
        <p:spPr>
          <a:xfrm>
            <a:off x="812800" y="1127761"/>
            <a:ext cx="10883392" cy="480536"/>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14213D"/>
                </a:solidFill>
                <a:latin typeface="Source Serif 4" pitchFamily="18" charset="0"/>
                <a:ea typeface="Source Serif 4" pitchFamily="18" charset="-122"/>
                <a:cs typeface="Source Serif 4" pitchFamily="18" charset="-120"/>
              </a:rPr>
              <a:t>Entrenar con el pasado y evaluar con el futuro</a:t>
            </a:r>
            <a:endParaRPr lang="en-US" sz="3200" dirty="0"/>
          </a:p>
        </p:txBody>
      </p:sp>
      <p:sp>
        <p:nvSpPr>
          <p:cNvPr id="4" name="Shape 2"/>
          <p:cNvSpPr/>
          <p:nvPr/>
        </p:nvSpPr>
        <p:spPr>
          <a:xfrm>
            <a:off x="812800" y="2094070"/>
            <a:ext cx="4699000" cy="177800"/>
          </a:xfrm>
          <a:prstGeom prst="roundRect">
            <a:avLst>
              <a:gd name="adj" fmla="val 21429"/>
            </a:avLst>
          </a:prstGeom>
          <a:solidFill>
            <a:srgbClr val="2A6FDB"/>
          </a:solidFill>
          <a:ln/>
        </p:spPr>
        <p:txBody>
          <a:bodyPr/>
          <a:lstStyle/>
          <a:p>
            <a:endParaRPr lang="es-PE"/>
          </a:p>
        </p:txBody>
      </p:sp>
      <p:sp>
        <p:nvSpPr>
          <p:cNvPr id="5" name="Shape 3"/>
          <p:cNvSpPr/>
          <p:nvPr/>
        </p:nvSpPr>
        <p:spPr>
          <a:xfrm>
            <a:off x="5664200" y="2094070"/>
            <a:ext cx="1206500" cy="177800"/>
          </a:xfrm>
          <a:prstGeom prst="roundRect">
            <a:avLst>
              <a:gd name="adj" fmla="val 21429"/>
            </a:avLst>
          </a:prstGeom>
          <a:solidFill>
            <a:srgbClr val="C9C5BA"/>
          </a:solidFill>
          <a:ln/>
        </p:spPr>
        <p:txBody>
          <a:bodyPr/>
          <a:lstStyle/>
          <a:p>
            <a:endParaRPr lang="es-PE"/>
          </a:p>
        </p:txBody>
      </p:sp>
      <p:sp>
        <p:nvSpPr>
          <p:cNvPr id="6" name="Shape 4"/>
          <p:cNvSpPr/>
          <p:nvPr/>
        </p:nvSpPr>
        <p:spPr>
          <a:xfrm>
            <a:off x="7023100" y="2094070"/>
            <a:ext cx="2413000" cy="177800"/>
          </a:xfrm>
          <a:prstGeom prst="roundRect">
            <a:avLst>
              <a:gd name="adj" fmla="val 21429"/>
            </a:avLst>
          </a:prstGeom>
          <a:solidFill>
            <a:srgbClr val="D9531E"/>
          </a:solidFill>
          <a:ln/>
        </p:spPr>
        <p:txBody>
          <a:bodyPr/>
          <a:lstStyle/>
          <a:p>
            <a:endParaRPr lang="es-PE"/>
          </a:p>
        </p:txBody>
      </p:sp>
      <p:sp>
        <p:nvSpPr>
          <p:cNvPr id="7" name="Shape 5"/>
          <p:cNvSpPr/>
          <p:nvPr/>
        </p:nvSpPr>
        <p:spPr>
          <a:xfrm>
            <a:off x="9594850" y="2100420"/>
            <a:ext cx="1778000" cy="165100"/>
          </a:xfrm>
          <a:prstGeom prst="roundRect">
            <a:avLst>
              <a:gd name="adj" fmla="val 19231"/>
            </a:avLst>
          </a:prstGeom>
          <a:solidFill>
            <a:srgbClr val="F6F4EF"/>
          </a:solidFill>
          <a:ln w="12700">
            <a:solidFill>
              <a:srgbClr val="14213D"/>
            </a:solidFill>
            <a:prstDash val="dash"/>
          </a:ln>
        </p:spPr>
        <p:txBody>
          <a:bodyPr/>
          <a:lstStyle/>
          <a:p>
            <a:endParaRPr lang="es-PE"/>
          </a:p>
        </p:txBody>
      </p:sp>
      <p:sp>
        <p:nvSpPr>
          <p:cNvPr id="8" name="Text 6"/>
          <p:cNvSpPr/>
          <p:nvPr/>
        </p:nvSpPr>
        <p:spPr>
          <a:xfrm>
            <a:off x="812800" y="2373470"/>
            <a:ext cx="483997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Entrenamiento</a:t>
            </a:r>
            <a:endParaRPr lang="en-US" sz="1400" dirty="0"/>
          </a:p>
        </p:txBody>
      </p:sp>
      <p:sp>
        <p:nvSpPr>
          <p:cNvPr id="9" name="Text 7"/>
          <p:cNvSpPr/>
          <p:nvPr/>
        </p:nvSpPr>
        <p:spPr>
          <a:xfrm>
            <a:off x="812800" y="2647791"/>
            <a:ext cx="48399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ene 2019 – may 2024 · 47,119 clientes · 4.4%</a:t>
            </a:r>
            <a:endParaRPr lang="en-US" sz="1200" dirty="0"/>
          </a:p>
        </p:txBody>
      </p:sp>
      <p:sp>
        <p:nvSpPr>
          <p:cNvPr id="10" name="Text 8"/>
          <p:cNvSpPr/>
          <p:nvPr/>
        </p:nvSpPr>
        <p:spPr>
          <a:xfrm>
            <a:off x="5664200" y="2373470"/>
            <a:ext cx="12573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Brecha</a:t>
            </a:r>
            <a:endParaRPr lang="en-US" sz="1400" dirty="0"/>
          </a:p>
        </p:txBody>
      </p:sp>
      <p:sp>
        <p:nvSpPr>
          <p:cNvPr id="11" name="Text 9"/>
          <p:cNvSpPr/>
          <p:nvPr/>
        </p:nvSpPr>
        <p:spPr>
          <a:xfrm>
            <a:off x="5664200" y="2647791"/>
            <a:ext cx="1257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60 días</a:t>
            </a:r>
            <a:endParaRPr lang="en-US" sz="1200" dirty="0"/>
          </a:p>
        </p:txBody>
      </p:sp>
      <p:sp>
        <p:nvSpPr>
          <p:cNvPr id="12" name="Text 10"/>
          <p:cNvSpPr/>
          <p:nvPr/>
        </p:nvSpPr>
        <p:spPr>
          <a:xfrm>
            <a:off x="7023100" y="2373470"/>
            <a:ext cx="248539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Prueba</a:t>
            </a:r>
            <a:endParaRPr lang="en-US" sz="1400" dirty="0"/>
          </a:p>
        </p:txBody>
      </p:sp>
      <p:sp>
        <p:nvSpPr>
          <p:cNvPr id="13" name="Text 11"/>
          <p:cNvSpPr/>
          <p:nvPr/>
        </p:nvSpPr>
        <p:spPr>
          <a:xfrm>
            <a:off x="7023100" y="2647791"/>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jul – dic 2024 · 12,708 · 12.8%</a:t>
            </a:r>
            <a:endParaRPr lang="en-US" sz="1200" dirty="0"/>
          </a:p>
        </p:txBody>
      </p:sp>
      <p:sp>
        <p:nvSpPr>
          <p:cNvPr id="14" name="Text 12"/>
          <p:cNvSpPr/>
          <p:nvPr/>
        </p:nvSpPr>
        <p:spPr>
          <a:xfrm>
            <a:off x="9588500" y="2373470"/>
            <a:ext cx="184442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Puntuación</a:t>
            </a:r>
            <a:endParaRPr lang="en-US" sz="1400" dirty="0"/>
          </a:p>
        </p:txBody>
      </p:sp>
      <p:sp>
        <p:nvSpPr>
          <p:cNvPr id="15" name="Text 13"/>
          <p:cNvSpPr/>
          <p:nvPr/>
        </p:nvSpPr>
        <p:spPr>
          <a:xfrm>
            <a:off x="9588500" y="2647791"/>
            <a:ext cx="184442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dic 2024 – feb 2025 · 8,489</a:t>
            </a:r>
            <a:endParaRPr lang="en-US" sz="1200" dirty="0"/>
          </a:p>
        </p:txBody>
      </p:sp>
      <p:sp>
        <p:nvSpPr>
          <p:cNvPr id="16" name="Shape 14"/>
          <p:cNvSpPr/>
          <p:nvPr/>
        </p:nvSpPr>
        <p:spPr>
          <a:xfrm>
            <a:off x="815975" y="3331687"/>
            <a:ext cx="2520950" cy="1116330"/>
          </a:xfrm>
          <a:prstGeom prst="roundRect">
            <a:avLst>
              <a:gd name="adj" fmla="val 8817"/>
            </a:avLst>
          </a:prstGeom>
          <a:solidFill>
            <a:srgbClr val="FDFCF9"/>
          </a:solidFill>
          <a:ln w="6350">
            <a:solidFill>
              <a:srgbClr val="E3DFD5"/>
            </a:solidFill>
            <a:prstDash val="solid"/>
          </a:ln>
        </p:spPr>
        <p:txBody>
          <a:bodyPr/>
          <a:lstStyle/>
          <a:p>
            <a:endParaRPr lang="es-PE"/>
          </a:p>
        </p:txBody>
      </p:sp>
      <p:sp>
        <p:nvSpPr>
          <p:cNvPr id="17" name="Text 15"/>
          <p:cNvSpPr/>
          <p:nvPr/>
        </p:nvSpPr>
        <p:spPr>
          <a:xfrm>
            <a:off x="1021080" y="3536791"/>
            <a:ext cx="21740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Azar</a:t>
            </a:r>
            <a:endParaRPr lang="en-US" sz="1500" dirty="0"/>
          </a:p>
        </p:txBody>
      </p:sp>
      <p:sp>
        <p:nvSpPr>
          <p:cNvPr id="18" name="Text 16"/>
          <p:cNvSpPr/>
          <p:nvPr/>
        </p:nvSpPr>
        <p:spPr>
          <a:xfrm>
            <a:off x="1021080" y="3816191"/>
            <a:ext cx="217406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Piso mínimo: la tasa base</a:t>
            </a:r>
            <a:endParaRPr lang="en-US" sz="1200" dirty="0"/>
          </a:p>
        </p:txBody>
      </p:sp>
      <p:sp>
        <p:nvSpPr>
          <p:cNvPr id="19" name="Shape 17"/>
          <p:cNvSpPr/>
          <p:nvPr/>
        </p:nvSpPr>
        <p:spPr>
          <a:xfrm>
            <a:off x="3495675" y="3331687"/>
            <a:ext cx="2520950" cy="1116330"/>
          </a:xfrm>
          <a:prstGeom prst="roundRect">
            <a:avLst>
              <a:gd name="adj" fmla="val 8817"/>
            </a:avLst>
          </a:prstGeom>
          <a:solidFill>
            <a:srgbClr val="FDFCF9"/>
          </a:solidFill>
          <a:ln w="6350">
            <a:solidFill>
              <a:srgbClr val="E3DFD5"/>
            </a:solidFill>
            <a:prstDash val="solid"/>
          </a:ln>
        </p:spPr>
        <p:txBody>
          <a:bodyPr/>
          <a:lstStyle/>
          <a:p>
            <a:endParaRPr lang="es-PE"/>
          </a:p>
        </p:txBody>
      </p:sp>
      <p:sp>
        <p:nvSpPr>
          <p:cNvPr id="20" name="Text 18"/>
          <p:cNvSpPr/>
          <p:nvPr/>
        </p:nvSpPr>
        <p:spPr>
          <a:xfrm>
            <a:off x="3700780" y="3536791"/>
            <a:ext cx="21740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Regresión logística</a:t>
            </a:r>
            <a:endParaRPr lang="en-US" sz="1500" dirty="0"/>
          </a:p>
        </p:txBody>
      </p:sp>
      <p:sp>
        <p:nvSpPr>
          <p:cNvPr id="21" name="Text 19"/>
          <p:cNvSpPr/>
          <p:nvPr/>
        </p:nvSpPr>
        <p:spPr>
          <a:xfrm>
            <a:off x="3700780" y="3816191"/>
            <a:ext cx="217406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Referencia simple e interpretable</a:t>
            </a:r>
            <a:endParaRPr lang="en-US" sz="1200" dirty="0"/>
          </a:p>
        </p:txBody>
      </p:sp>
      <p:sp>
        <p:nvSpPr>
          <p:cNvPr id="22" name="Shape 20"/>
          <p:cNvSpPr/>
          <p:nvPr/>
        </p:nvSpPr>
        <p:spPr>
          <a:xfrm>
            <a:off x="6175375" y="3331687"/>
            <a:ext cx="2520950" cy="1116330"/>
          </a:xfrm>
          <a:prstGeom prst="roundRect">
            <a:avLst>
              <a:gd name="adj" fmla="val 8817"/>
            </a:avLst>
          </a:prstGeom>
          <a:solidFill>
            <a:srgbClr val="FDFCF9"/>
          </a:solidFill>
          <a:ln w="6350">
            <a:solidFill>
              <a:srgbClr val="E3DFD5"/>
            </a:solidFill>
            <a:prstDash val="solid"/>
          </a:ln>
        </p:spPr>
        <p:txBody>
          <a:bodyPr/>
          <a:lstStyle/>
          <a:p>
            <a:endParaRPr lang="es-PE"/>
          </a:p>
        </p:txBody>
      </p:sp>
      <p:sp>
        <p:nvSpPr>
          <p:cNvPr id="23" name="Text 21"/>
          <p:cNvSpPr/>
          <p:nvPr/>
        </p:nvSpPr>
        <p:spPr>
          <a:xfrm>
            <a:off x="6380480" y="3536791"/>
            <a:ext cx="21740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Boosting</a:t>
            </a:r>
            <a:endParaRPr lang="en-US" sz="1500" dirty="0"/>
          </a:p>
        </p:txBody>
      </p:sp>
      <p:sp>
        <p:nvSpPr>
          <p:cNvPr id="24" name="Text 22"/>
          <p:cNvSpPr/>
          <p:nvPr/>
        </p:nvSpPr>
        <p:spPr>
          <a:xfrm>
            <a:off x="6380480" y="3816191"/>
            <a:ext cx="217406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HistGradientBoosting y LightGBM</a:t>
            </a:r>
            <a:endParaRPr lang="en-US" sz="1200" dirty="0"/>
          </a:p>
        </p:txBody>
      </p:sp>
      <p:sp>
        <p:nvSpPr>
          <p:cNvPr id="25" name="Shape 23"/>
          <p:cNvSpPr/>
          <p:nvPr/>
        </p:nvSpPr>
        <p:spPr>
          <a:xfrm>
            <a:off x="8855075" y="3331687"/>
            <a:ext cx="2520950" cy="1116330"/>
          </a:xfrm>
          <a:prstGeom prst="roundRect">
            <a:avLst>
              <a:gd name="adj" fmla="val 8817"/>
            </a:avLst>
          </a:prstGeom>
          <a:solidFill>
            <a:srgbClr val="FDFCF9"/>
          </a:solidFill>
          <a:ln w="6350">
            <a:solidFill>
              <a:srgbClr val="E3DFD5"/>
            </a:solidFill>
            <a:prstDash val="solid"/>
          </a:ln>
        </p:spPr>
        <p:txBody>
          <a:bodyPr/>
          <a:lstStyle/>
          <a:p>
            <a:endParaRPr lang="es-PE"/>
          </a:p>
        </p:txBody>
      </p:sp>
      <p:sp>
        <p:nvSpPr>
          <p:cNvPr id="26" name="Text 24"/>
          <p:cNvSpPr/>
          <p:nvPr/>
        </p:nvSpPr>
        <p:spPr>
          <a:xfrm>
            <a:off x="9060180" y="3536791"/>
            <a:ext cx="21740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Regla simple</a:t>
            </a:r>
            <a:endParaRPr lang="en-US" sz="1500" dirty="0"/>
          </a:p>
        </p:txBody>
      </p:sp>
      <p:sp>
        <p:nvSpPr>
          <p:cNvPr id="27" name="Text 25"/>
          <p:cNvSpPr/>
          <p:nvPr/>
        </p:nvSpPr>
        <p:spPr>
          <a:xfrm>
            <a:off x="9060180" y="3816191"/>
            <a:ext cx="217406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Ordena por días entre registro y 1.ª compra</a:t>
            </a:r>
            <a:endParaRPr lang="en-US" sz="1200" dirty="0"/>
          </a:p>
        </p:txBody>
      </p:sp>
      <p:sp>
        <p:nvSpPr>
          <p:cNvPr id="28" name="Text 26"/>
          <p:cNvSpPr/>
          <p:nvPr/>
        </p:nvSpPr>
        <p:spPr>
          <a:xfrm>
            <a:off x="812800" y="470519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Métrica principal: </a:t>
            </a:r>
            <a:r>
              <a:rPr lang="en-US" sz="1400" b="1" dirty="0">
                <a:solidFill>
                  <a:srgbClr val="14213D"/>
                </a:solidFill>
                <a:latin typeface="IBM Plex Sans" pitchFamily="34" charset="0"/>
                <a:ea typeface="IBM Plex Sans" pitchFamily="34" charset="-122"/>
                <a:cs typeface="IBM Plex Sans" pitchFamily="34" charset="-120"/>
              </a:rPr>
              <a:t>PR AUC</a:t>
            </a:r>
            <a:r>
              <a:rPr lang="en-US" sz="1400" dirty="0">
                <a:solidFill>
                  <a:srgbClr val="4A5568"/>
                </a:solidFill>
                <a:latin typeface="IBM Plex Sans" pitchFamily="34" charset="0"/>
                <a:ea typeface="IBM Plex Sans" pitchFamily="34" charset="-122"/>
                <a:cs typeface="IBM Plex Sans" pitchFamily="34" charset="-120"/>
              </a:rPr>
              <a:t>. Métrica de decisión: </a:t>
            </a:r>
            <a:r>
              <a:rPr lang="en-US" sz="1400" b="1" dirty="0">
                <a:solidFill>
                  <a:srgbClr val="14213D"/>
                </a:solidFill>
                <a:latin typeface="IBM Plex Sans" pitchFamily="34" charset="0"/>
                <a:ea typeface="IBM Plex Sans" pitchFamily="34" charset="-122"/>
                <a:cs typeface="IBM Plex Sans" pitchFamily="34" charset="-120"/>
              </a:rPr>
              <a:t>precision, recall y lift en el top 10% y 20%</a:t>
            </a: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29" name="Text 27"/>
          <p:cNvSpPr/>
          <p:nvPr/>
        </p:nvSpPr>
        <p:spPr>
          <a:xfrm>
            <a:off x="812800" y="6238239"/>
            <a:ext cx="25119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The Look · Recompra a 60 días</a:t>
            </a:r>
            <a:endParaRPr lang="en-US" sz="1200" dirty="0"/>
          </a:p>
        </p:txBody>
      </p:sp>
      <p:sp>
        <p:nvSpPr>
          <p:cNvPr id="30" name="Text 28"/>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461A"/>
                </a:solidFill>
                <a:latin typeface="IBM Plex Sans" pitchFamily="34" charset="0"/>
                <a:ea typeface="IBM Plex Sans" pitchFamily="34" charset="-122"/>
                <a:cs typeface="IBM Plex Sans" pitchFamily="34" charset="-120"/>
              </a:rPr>
              <a:t>RESULTADOS EN EL PERÍODO DE PRUEBA</a:t>
            </a:r>
            <a:endParaRPr lang="en-US" sz="1200" dirty="0"/>
          </a:p>
        </p:txBody>
      </p:sp>
      <p:sp>
        <p:nvSpPr>
          <p:cNvPr id="3" name="Text 1"/>
          <p:cNvSpPr>
            <a:spLocks noGrp="1"/>
          </p:cNvSpPr>
          <p:nvPr>
            <p:ph type="title"/>
          </p:nvPr>
        </p:nvSpPr>
        <p:spPr>
          <a:xfrm>
            <a:off x="812800" y="1127761"/>
            <a:ext cx="10883392" cy="480536"/>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14213D"/>
                </a:solidFill>
                <a:latin typeface="Source Serif 4" pitchFamily="18" charset="0"/>
                <a:ea typeface="Source Serif 4" pitchFamily="18" charset="-122"/>
                <a:cs typeface="Source Serif 4" pitchFamily="18" charset="-120"/>
              </a:rPr>
              <a:t>Una regla simple supera a todos los modelos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316153054"/>
              </p:ext>
            </p:extLst>
          </p:nvPr>
        </p:nvGraphicFramePr>
        <p:xfrm>
          <a:off x="822960" y="1872456"/>
          <a:ext cx="10556238" cy="2550160"/>
        </p:xfrm>
        <a:graphic>
          <a:graphicData uri="http://schemas.openxmlformats.org/drawingml/2006/table">
            <a:tbl>
              <a:tblPr/>
              <a:tblGrid>
                <a:gridCol w="3301171">
                  <a:extLst>
                    <a:ext uri="{9D8B030D-6E8A-4147-A177-3AD203B41FA5}">
                      <a16:colId xmlns:a16="http://schemas.microsoft.com/office/drawing/2014/main" val="20000"/>
                    </a:ext>
                  </a:extLst>
                </a:gridCol>
                <a:gridCol w="2188073">
                  <a:extLst>
                    <a:ext uri="{9D8B030D-6E8A-4147-A177-3AD203B41FA5}">
                      <a16:colId xmlns:a16="http://schemas.microsoft.com/office/drawing/2014/main" val="20001"/>
                    </a:ext>
                  </a:extLst>
                </a:gridCol>
                <a:gridCol w="1688998">
                  <a:extLst>
                    <a:ext uri="{9D8B030D-6E8A-4147-A177-3AD203B41FA5}">
                      <a16:colId xmlns:a16="http://schemas.microsoft.com/office/drawing/2014/main" val="20002"/>
                    </a:ext>
                  </a:extLst>
                </a:gridCol>
                <a:gridCol w="1688998">
                  <a:extLst>
                    <a:ext uri="{9D8B030D-6E8A-4147-A177-3AD203B41FA5}">
                      <a16:colId xmlns:a16="http://schemas.microsoft.com/office/drawing/2014/main" val="20003"/>
                    </a:ext>
                  </a:extLst>
                </a:gridCol>
                <a:gridCol w="1688998">
                  <a:extLst>
                    <a:ext uri="{9D8B030D-6E8A-4147-A177-3AD203B41FA5}">
                      <a16:colId xmlns:a16="http://schemas.microsoft.com/office/drawing/2014/main" val="20004"/>
                    </a:ext>
                  </a:extLst>
                </a:gridCol>
              </a:tblGrid>
              <a:tr h="632460">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Modelo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 AUC</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Precision top 10%</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Lift top 10%</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Recall top 20%</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Regla simple · elegida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0.270</a:t>
                      </a:r>
                      <a:endParaRPr lang="en-US" sz="1400" dirty="0">
                        <a:latin typeface="IBM Plex Sans" charset="0"/>
                        <a:ea typeface="IBM Plex Sans" charset="0"/>
                        <a:cs typeface="IBM Plex Sans" charset="0"/>
                      </a:endParaRPr>
                    </a:p>
                  </a:txBody>
                  <a:tcPr marL="62230" marR="62230" marT="62230" marB="62230">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32.1%</a:t>
                      </a:r>
                      <a:endParaRPr lang="en-US" sz="1400" dirty="0">
                        <a:latin typeface="IBM Plex Sans" charset="0"/>
                        <a:ea typeface="IBM Plex Sans" charset="0"/>
                        <a:cs typeface="IBM Plex Sans" charset="0"/>
                      </a:endParaRPr>
                    </a:p>
                  </a:txBody>
                  <a:tcPr marL="62230" marR="62230" marT="62230" marB="62230">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45.8%</a:t>
                      </a:r>
                      <a:endParaRPr lang="en-US" sz="1400" dirty="0">
                        <a:latin typeface="IBM Plex Sans" charset="0"/>
                        <a:ea typeface="IBM Plex Sans" charset="0"/>
                        <a:cs typeface="IBM Plex Sans" charset="0"/>
                      </a:endParaRPr>
                    </a:p>
                  </a:txBody>
                  <a:tcPr marL="62230" marR="62230" marT="62230" marB="62230">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HistGradientBoosting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0.240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27.8%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37.4%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Regresión logística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0.218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24.6%</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1.9×</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38.1%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LightGBM</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0.210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25.4%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35.3%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Azar (valor esperado)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0.128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12.8%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812800" y="4702017"/>
            <a:ext cx="10566400" cy="1026160"/>
          </a:xfrm>
          <a:prstGeom prst="roundRect">
            <a:avLst>
              <a:gd name="adj" fmla="val 9901"/>
            </a:avLst>
          </a:prstGeom>
          <a:solidFill>
            <a:srgbClr val="14213D"/>
          </a:solidFill>
          <a:ln/>
        </p:spPr>
        <p:txBody>
          <a:bodyPr/>
          <a:lstStyle/>
          <a:p>
            <a:endParaRPr lang="es-PE"/>
          </a:p>
        </p:txBody>
      </p:sp>
      <p:sp>
        <p:nvSpPr>
          <p:cNvPr id="6" name="Text 3"/>
          <p:cNvSpPr/>
          <p:nvPr/>
        </p:nvSpPr>
        <p:spPr>
          <a:xfrm>
            <a:off x="1092200" y="4930617"/>
            <a:ext cx="2175697" cy="594360"/>
          </a:xfrm>
          <a:prstGeom prst="rect">
            <a:avLst/>
          </a:prstGeom>
          <a:noFill/>
          <a:ln/>
        </p:spPr>
        <p:txBody>
          <a:bodyPr wrap="none" lIns="0" tIns="0" rIns="0" bIns="0" rtlCol="0" anchor="t">
            <a:normAutofit/>
          </a:bodyPr>
          <a:lstStyle/>
          <a:p>
            <a:pPr marL="0" indent="0" algn="l">
              <a:lnSpc>
                <a:spcPts val="4480"/>
              </a:lnSpc>
              <a:buNone/>
            </a:pPr>
            <a:r>
              <a:rPr lang="en-US" sz="3200" b="1" dirty="0">
                <a:solidFill>
                  <a:srgbClr val="F08A5D"/>
                </a:solidFill>
                <a:latin typeface="Source Serif 4" pitchFamily="18" charset="0"/>
                <a:ea typeface="Source Serif 4" pitchFamily="18" charset="-122"/>
                <a:cs typeface="Source Serif 4" pitchFamily="18" charset="-120"/>
              </a:rPr>
              <a:t>1 de cada 3</a:t>
            </a:r>
            <a:endParaRPr lang="en-US" sz="3200" dirty="0"/>
          </a:p>
        </p:txBody>
      </p:sp>
      <p:sp>
        <p:nvSpPr>
          <p:cNvPr id="7" name="Text 4"/>
          <p:cNvSpPr/>
          <p:nvPr/>
        </p:nvSpPr>
        <p:spPr>
          <a:xfrm>
            <a:off x="3407728" y="5081746"/>
            <a:ext cx="797147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clientes del 10% priorizado recompra, frente a 1 de cada 8 si se contacta al azar.</a:t>
            </a:r>
            <a:endParaRPr lang="en-US" sz="1500" dirty="0"/>
          </a:p>
        </p:txBody>
      </p:sp>
      <p:sp>
        <p:nvSpPr>
          <p:cNvPr id="8" name="Text 5"/>
          <p:cNvSpPr/>
          <p:nvPr/>
        </p:nvSpPr>
        <p:spPr>
          <a:xfrm>
            <a:off x="812800" y="6238239"/>
            <a:ext cx="25119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The Look · Recompra a 60 días</a:t>
            </a:r>
            <a:endParaRPr lang="en-US" sz="1200" dirty="0"/>
          </a:p>
        </p:txBody>
      </p:sp>
      <p:sp>
        <p:nvSpPr>
          <p:cNvPr id="9" name="Text 6"/>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461A"/>
                </a:solidFill>
                <a:latin typeface="IBM Plex Sans" pitchFamily="34" charset="0"/>
                <a:ea typeface="IBM Plex Sans" pitchFamily="34" charset="-122"/>
                <a:cs typeface="IBM Plex Sans" pitchFamily="34" charset="-120"/>
              </a:rPr>
              <a:t>DIAGNÓSTICO DE LA SEÑAL</a:t>
            </a:r>
            <a:endParaRPr lang="en-US" sz="1200" dirty="0"/>
          </a:p>
        </p:txBody>
      </p:sp>
      <p:sp>
        <p:nvSpPr>
          <p:cNvPr id="3" name="Text 1"/>
          <p:cNvSpPr>
            <a:spLocks noGrp="1"/>
          </p:cNvSpPr>
          <p:nvPr>
            <p:ph type="title"/>
          </p:nvPr>
        </p:nvSpPr>
        <p:spPr>
          <a:xfrm>
            <a:off x="812800" y="1127761"/>
            <a:ext cx="10883392" cy="935673"/>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14213D"/>
                </a:solidFill>
                <a:latin typeface="Source Serif 4" pitchFamily="18" charset="0"/>
                <a:ea typeface="Source Serif 4" pitchFamily="18" charset="-122"/>
                <a:cs typeface="Source Serif 4" pitchFamily="18" charset="-120"/>
              </a:rPr>
              <a:t>Casi toda la señal está en los días entre registro y primera compra</a:t>
            </a:r>
            <a:endParaRPr lang="en-US" sz="3200" dirty="0"/>
          </a:p>
        </p:txBody>
      </p:sp>
      <p:sp>
        <p:nvSpPr>
          <p:cNvPr id="4" name="Text 2"/>
          <p:cNvSpPr/>
          <p:nvPr/>
        </p:nvSpPr>
        <p:spPr>
          <a:xfrm>
            <a:off x="812800" y="2643482"/>
            <a:ext cx="60172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Recompra a 60 días según días entre registro y 1.ª compra</a:t>
            </a:r>
            <a:endParaRPr lang="en-US" sz="1500" dirty="0"/>
          </a:p>
        </p:txBody>
      </p:sp>
      <p:sp>
        <p:nvSpPr>
          <p:cNvPr id="5" name="Text 3"/>
          <p:cNvSpPr/>
          <p:nvPr/>
        </p:nvSpPr>
        <p:spPr>
          <a:xfrm>
            <a:off x="812800" y="2986382"/>
            <a:ext cx="1003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1–7 d</a:t>
            </a:r>
            <a:endParaRPr lang="en-US" sz="1300" dirty="0"/>
          </a:p>
        </p:txBody>
      </p:sp>
      <p:sp>
        <p:nvSpPr>
          <p:cNvPr id="6" name="Shape 4"/>
          <p:cNvSpPr/>
          <p:nvPr/>
        </p:nvSpPr>
        <p:spPr>
          <a:xfrm>
            <a:off x="1892300" y="2987650"/>
            <a:ext cx="3810000" cy="228600"/>
          </a:xfrm>
          <a:custGeom>
            <a:avLst/>
            <a:gdLst/>
            <a:ahLst/>
            <a:cxnLst/>
            <a:rect l="l" t="t" r="r" b="b"/>
            <a:pathLst>
              <a:path w="3810000" h="228600">
                <a:moveTo>
                  <a:pt x="0" y="0"/>
                </a:moveTo>
                <a:lnTo>
                  <a:pt x="3771900" y="0"/>
                </a:lnTo>
                <a:arcTo wR="38100" hR="38100" stAng="16200000" swAng="5400000"/>
                <a:lnTo>
                  <a:pt x="3810000" y="190500"/>
                </a:lnTo>
                <a:arcTo wR="38100" hR="38100" stAng="0" swAng="5400000"/>
                <a:lnTo>
                  <a:pt x="0" y="228600"/>
                </a:lnTo>
                <a:lnTo>
                  <a:pt x="0" y="0"/>
                </a:lnTo>
                <a:close/>
              </a:path>
            </a:pathLst>
          </a:custGeom>
          <a:solidFill>
            <a:srgbClr val="D9531E"/>
          </a:solidFill>
          <a:ln/>
        </p:spPr>
        <p:txBody>
          <a:bodyPr/>
          <a:lstStyle/>
          <a:p>
            <a:endParaRPr lang="es-PE"/>
          </a:p>
        </p:txBody>
      </p:sp>
      <p:sp>
        <p:nvSpPr>
          <p:cNvPr id="7" name="Text 5"/>
          <p:cNvSpPr/>
          <p:nvPr/>
        </p:nvSpPr>
        <p:spPr>
          <a:xfrm>
            <a:off x="5829300" y="2986382"/>
            <a:ext cx="60607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18.9%</a:t>
            </a:r>
            <a:endParaRPr lang="en-US" sz="1300" dirty="0"/>
          </a:p>
        </p:txBody>
      </p:sp>
      <p:sp>
        <p:nvSpPr>
          <p:cNvPr id="8" name="Text 6"/>
          <p:cNvSpPr/>
          <p:nvPr/>
        </p:nvSpPr>
        <p:spPr>
          <a:xfrm>
            <a:off x="812800" y="3331821"/>
            <a:ext cx="1003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8–30 d</a:t>
            </a:r>
            <a:endParaRPr lang="en-US" sz="1300" dirty="0"/>
          </a:p>
        </p:txBody>
      </p:sp>
      <p:sp>
        <p:nvSpPr>
          <p:cNvPr id="9" name="Shape 7"/>
          <p:cNvSpPr/>
          <p:nvPr/>
        </p:nvSpPr>
        <p:spPr>
          <a:xfrm>
            <a:off x="1892300" y="3333092"/>
            <a:ext cx="3105150" cy="228600"/>
          </a:xfrm>
          <a:custGeom>
            <a:avLst/>
            <a:gdLst/>
            <a:ahLst/>
            <a:cxnLst/>
            <a:rect l="l" t="t" r="r" b="b"/>
            <a:pathLst>
              <a:path w="3105150" h="228600">
                <a:moveTo>
                  <a:pt x="0" y="0"/>
                </a:moveTo>
                <a:lnTo>
                  <a:pt x="3067050" y="0"/>
                </a:lnTo>
                <a:arcTo wR="38100" hR="38100" stAng="16200000" swAng="5400000"/>
                <a:lnTo>
                  <a:pt x="3105150" y="190500"/>
                </a:lnTo>
                <a:arcTo wR="38100" hR="38100" stAng="0" swAng="5400000"/>
                <a:lnTo>
                  <a:pt x="0" y="228600"/>
                </a:lnTo>
                <a:lnTo>
                  <a:pt x="0" y="0"/>
                </a:lnTo>
                <a:close/>
              </a:path>
            </a:pathLst>
          </a:custGeom>
          <a:solidFill>
            <a:srgbClr val="D9531E"/>
          </a:solidFill>
          <a:ln/>
        </p:spPr>
        <p:txBody>
          <a:bodyPr/>
          <a:lstStyle/>
          <a:p>
            <a:endParaRPr lang="es-PE"/>
          </a:p>
        </p:txBody>
      </p:sp>
      <p:sp>
        <p:nvSpPr>
          <p:cNvPr id="10" name="Text 8"/>
          <p:cNvSpPr/>
          <p:nvPr/>
        </p:nvSpPr>
        <p:spPr>
          <a:xfrm>
            <a:off x="5124450" y="3331821"/>
            <a:ext cx="60607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15.4%</a:t>
            </a:r>
            <a:endParaRPr lang="en-US" sz="1300" dirty="0"/>
          </a:p>
        </p:txBody>
      </p:sp>
      <p:sp>
        <p:nvSpPr>
          <p:cNvPr id="11" name="Text 9"/>
          <p:cNvSpPr/>
          <p:nvPr/>
        </p:nvSpPr>
        <p:spPr>
          <a:xfrm>
            <a:off x="812800" y="3677261"/>
            <a:ext cx="1003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31–90 d</a:t>
            </a:r>
            <a:endParaRPr lang="en-US" sz="1300" dirty="0"/>
          </a:p>
        </p:txBody>
      </p:sp>
      <p:sp>
        <p:nvSpPr>
          <p:cNvPr id="12" name="Shape 10"/>
          <p:cNvSpPr/>
          <p:nvPr/>
        </p:nvSpPr>
        <p:spPr>
          <a:xfrm>
            <a:off x="1892300" y="3678532"/>
            <a:ext cx="2235200" cy="228600"/>
          </a:xfrm>
          <a:custGeom>
            <a:avLst/>
            <a:gdLst/>
            <a:ahLst/>
            <a:cxnLst/>
            <a:rect l="l" t="t" r="r" b="b"/>
            <a:pathLst>
              <a:path w="2235200" h="228600">
                <a:moveTo>
                  <a:pt x="0" y="0"/>
                </a:moveTo>
                <a:lnTo>
                  <a:pt x="2197100" y="0"/>
                </a:lnTo>
                <a:arcTo wR="38100" hR="38100" stAng="16200000" swAng="5400000"/>
                <a:lnTo>
                  <a:pt x="2235200" y="190500"/>
                </a:lnTo>
                <a:arcTo wR="38100" hR="38100" stAng="0" swAng="5400000"/>
                <a:lnTo>
                  <a:pt x="0" y="228600"/>
                </a:lnTo>
                <a:lnTo>
                  <a:pt x="0" y="0"/>
                </a:lnTo>
                <a:close/>
              </a:path>
            </a:pathLst>
          </a:custGeom>
          <a:solidFill>
            <a:srgbClr val="D9531E"/>
          </a:solidFill>
          <a:ln/>
        </p:spPr>
        <p:txBody>
          <a:bodyPr/>
          <a:lstStyle/>
          <a:p>
            <a:endParaRPr lang="es-PE"/>
          </a:p>
        </p:txBody>
      </p:sp>
      <p:sp>
        <p:nvSpPr>
          <p:cNvPr id="13" name="Text 11"/>
          <p:cNvSpPr/>
          <p:nvPr/>
        </p:nvSpPr>
        <p:spPr>
          <a:xfrm>
            <a:off x="4254500" y="3677261"/>
            <a:ext cx="60607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11.1%</a:t>
            </a:r>
            <a:endParaRPr lang="en-US" sz="1300" dirty="0"/>
          </a:p>
        </p:txBody>
      </p:sp>
      <p:sp>
        <p:nvSpPr>
          <p:cNvPr id="14" name="Text 12"/>
          <p:cNvSpPr/>
          <p:nvPr/>
        </p:nvSpPr>
        <p:spPr>
          <a:xfrm>
            <a:off x="812800" y="4022700"/>
            <a:ext cx="1003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91–365 d</a:t>
            </a:r>
            <a:endParaRPr lang="en-US" sz="1300" dirty="0"/>
          </a:p>
        </p:txBody>
      </p:sp>
      <p:sp>
        <p:nvSpPr>
          <p:cNvPr id="15" name="Shape 13"/>
          <p:cNvSpPr/>
          <p:nvPr/>
        </p:nvSpPr>
        <p:spPr>
          <a:xfrm>
            <a:off x="1892300" y="4023971"/>
            <a:ext cx="1409700" cy="228600"/>
          </a:xfrm>
          <a:custGeom>
            <a:avLst/>
            <a:gdLst/>
            <a:ahLst/>
            <a:cxnLst/>
            <a:rect l="l" t="t" r="r" b="b"/>
            <a:pathLst>
              <a:path w="1409700" h="228600">
                <a:moveTo>
                  <a:pt x="0" y="0"/>
                </a:moveTo>
                <a:lnTo>
                  <a:pt x="1371600" y="0"/>
                </a:lnTo>
                <a:arcTo wR="38100" hR="38100" stAng="16200000" swAng="5400000"/>
                <a:lnTo>
                  <a:pt x="1409700" y="190500"/>
                </a:lnTo>
                <a:arcTo wR="38100" hR="38100" stAng="0" swAng="5400000"/>
                <a:lnTo>
                  <a:pt x="0" y="228600"/>
                </a:lnTo>
                <a:lnTo>
                  <a:pt x="0" y="0"/>
                </a:lnTo>
                <a:close/>
              </a:path>
            </a:pathLst>
          </a:custGeom>
          <a:solidFill>
            <a:srgbClr val="D9531E"/>
          </a:solidFill>
          <a:ln/>
        </p:spPr>
        <p:txBody>
          <a:bodyPr/>
          <a:lstStyle/>
          <a:p>
            <a:endParaRPr lang="es-PE"/>
          </a:p>
        </p:txBody>
      </p:sp>
      <p:sp>
        <p:nvSpPr>
          <p:cNvPr id="16" name="Text 14"/>
          <p:cNvSpPr/>
          <p:nvPr/>
        </p:nvSpPr>
        <p:spPr>
          <a:xfrm>
            <a:off x="3429000" y="4022700"/>
            <a:ext cx="48720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7.0%</a:t>
            </a:r>
            <a:endParaRPr lang="en-US" sz="1300" dirty="0"/>
          </a:p>
        </p:txBody>
      </p:sp>
      <p:sp>
        <p:nvSpPr>
          <p:cNvPr id="17" name="Text 15"/>
          <p:cNvSpPr/>
          <p:nvPr/>
        </p:nvSpPr>
        <p:spPr>
          <a:xfrm>
            <a:off x="812800" y="4368142"/>
            <a:ext cx="1003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&gt;365 d</a:t>
            </a:r>
            <a:endParaRPr lang="en-US" sz="1300" dirty="0"/>
          </a:p>
        </p:txBody>
      </p:sp>
      <p:sp>
        <p:nvSpPr>
          <p:cNvPr id="18" name="Shape 16"/>
          <p:cNvSpPr/>
          <p:nvPr/>
        </p:nvSpPr>
        <p:spPr>
          <a:xfrm>
            <a:off x="1892300" y="4369411"/>
            <a:ext cx="685800" cy="228600"/>
          </a:xfrm>
          <a:custGeom>
            <a:avLst/>
            <a:gdLst/>
            <a:ahLst/>
            <a:cxnLst/>
            <a:rect l="l" t="t" r="r" b="b"/>
            <a:pathLst>
              <a:path w="685800" h="228600">
                <a:moveTo>
                  <a:pt x="0" y="0"/>
                </a:moveTo>
                <a:lnTo>
                  <a:pt x="647700" y="0"/>
                </a:lnTo>
                <a:arcTo wR="38100" hR="38100" stAng="16200000" swAng="5400000"/>
                <a:lnTo>
                  <a:pt x="685800" y="190500"/>
                </a:lnTo>
                <a:arcTo wR="38100" hR="38100" stAng="0" swAng="5400000"/>
                <a:lnTo>
                  <a:pt x="0" y="228600"/>
                </a:lnTo>
                <a:lnTo>
                  <a:pt x="0" y="0"/>
                </a:lnTo>
                <a:close/>
              </a:path>
            </a:pathLst>
          </a:custGeom>
          <a:solidFill>
            <a:srgbClr val="D9531E"/>
          </a:solidFill>
          <a:ln/>
        </p:spPr>
        <p:txBody>
          <a:bodyPr/>
          <a:lstStyle/>
          <a:p>
            <a:endParaRPr lang="es-PE"/>
          </a:p>
        </p:txBody>
      </p:sp>
      <p:sp>
        <p:nvSpPr>
          <p:cNvPr id="19" name="Text 17"/>
          <p:cNvSpPr/>
          <p:nvPr/>
        </p:nvSpPr>
        <p:spPr>
          <a:xfrm>
            <a:off x="2705100" y="4368142"/>
            <a:ext cx="48720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3.4%</a:t>
            </a:r>
            <a:endParaRPr lang="en-US" sz="1300" dirty="0"/>
          </a:p>
        </p:txBody>
      </p:sp>
      <p:sp>
        <p:nvSpPr>
          <p:cNvPr id="20" name="Text 18"/>
          <p:cNvSpPr/>
          <p:nvPr/>
        </p:nvSpPr>
        <p:spPr>
          <a:xfrm>
            <a:off x="812800" y="4713582"/>
            <a:ext cx="601726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Por año de registro, la recompra sube de 2.6% (2019) a 19.1% (2024).</a:t>
            </a:r>
            <a:endParaRPr lang="en-US" sz="1300" dirty="0"/>
          </a:p>
        </p:txBody>
      </p:sp>
      <p:sp>
        <p:nvSpPr>
          <p:cNvPr id="21" name="Text 19"/>
          <p:cNvSpPr/>
          <p:nvPr/>
        </p:nvSpPr>
        <p:spPr>
          <a:xfrm>
            <a:off x="7061200" y="2643482"/>
            <a:ext cx="44475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PR AUC en prueba</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465062185"/>
              </p:ext>
            </p:extLst>
          </p:nvPr>
        </p:nvGraphicFramePr>
        <p:xfrm>
          <a:off x="7071360" y="2983842"/>
          <a:ext cx="4307840" cy="1784350"/>
        </p:xfrm>
        <a:graphic>
          <a:graphicData uri="http://schemas.openxmlformats.org/drawingml/2006/table">
            <a:tbl>
              <a:tblPr/>
              <a:tblGrid>
                <a:gridCol w="3101645">
                  <a:extLst>
                    <a:ext uri="{9D8B030D-6E8A-4147-A177-3AD203B41FA5}">
                      <a16:colId xmlns:a16="http://schemas.microsoft.com/office/drawing/2014/main" val="20000"/>
                    </a:ext>
                  </a:extLst>
                </a:gridCol>
                <a:gridCol w="1206195">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Escenario</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PR AUC</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Regla: solo esta variable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0.270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Modelo con todas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0.240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Modelo sin esta variable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0.136</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Azar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0.128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3" name="Text 20"/>
          <p:cNvSpPr/>
          <p:nvPr/>
        </p:nvSpPr>
        <p:spPr>
          <a:xfrm>
            <a:off x="7061200" y="4869792"/>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Sin ella, las otras 16 variables rinden casi como el azar.</a:t>
            </a:r>
            <a:endParaRPr lang="en-US" sz="1300" dirty="0"/>
          </a:p>
        </p:txBody>
      </p:sp>
      <p:sp>
        <p:nvSpPr>
          <p:cNvPr id="24" name="Text 21"/>
          <p:cNvSpPr/>
          <p:nvPr/>
        </p:nvSpPr>
        <p:spPr>
          <a:xfrm>
            <a:off x="812800" y="6238239"/>
            <a:ext cx="25119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The Look · Recompra a 60 días</a:t>
            </a:r>
            <a:endParaRPr lang="en-US" sz="1200" dirty="0"/>
          </a:p>
        </p:txBody>
      </p:sp>
      <p:sp>
        <p:nvSpPr>
          <p:cNvPr id="25" name="Text 22"/>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461A"/>
                </a:solidFill>
                <a:latin typeface="IBM Plex Sans" pitchFamily="34" charset="0"/>
                <a:ea typeface="IBM Plex Sans" pitchFamily="34" charset="-122"/>
                <a:cs typeface="IBM Plex Sans" pitchFamily="34" charset="-120"/>
              </a:rPr>
              <a:t>RECOMENDACIONES COMERCIALES</a:t>
            </a:r>
            <a:endParaRPr lang="en-US" sz="1200" dirty="0"/>
          </a:p>
        </p:txBody>
      </p:sp>
      <p:sp>
        <p:nvSpPr>
          <p:cNvPr id="3" name="Text 1"/>
          <p:cNvSpPr>
            <a:spLocks noGrp="1"/>
          </p:cNvSpPr>
          <p:nvPr>
            <p:ph type="title"/>
          </p:nvPr>
        </p:nvSpPr>
        <p:spPr>
          <a:xfrm>
            <a:off x="812800" y="1127761"/>
            <a:ext cx="10883392" cy="935673"/>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14213D"/>
                </a:solidFill>
                <a:latin typeface="Source Serif 4" pitchFamily="18" charset="0"/>
                <a:ea typeface="Source Serif 4" pitchFamily="18" charset="-122"/>
                <a:cs typeface="Source Serif 4" pitchFamily="18" charset="-120"/>
              </a:rPr>
              <a:t>Contactar al 20% con mayor score capta el 46% de las recompras</a:t>
            </a:r>
            <a:endParaRPr lang="en-US" sz="3200" dirty="0"/>
          </a:p>
        </p:txBody>
      </p:sp>
      <p:sp>
        <p:nvSpPr>
          <p:cNvPr id="4" name="Text 2"/>
          <p:cNvSpPr/>
          <p:nvPr/>
        </p:nvSpPr>
        <p:spPr>
          <a:xfrm>
            <a:off x="820976" y="2292034"/>
            <a:ext cx="55949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32.0%</a:t>
            </a:r>
            <a:endParaRPr lang="en-US" sz="1200" dirty="0"/>
          </a:p>
        </p:txBody>
      </p:sp>
      <p:sp>
        <p:nvSpPr>
          <p:cNvPr id="5" name="Shape 3"/>
          <p:cNvSpPr/>
          <p:nvPr/>
        </p:nvSpPr>
        <p:spPr>
          <a:xfrm>
            <a:off x="876300" y="2556194"/>
            <a:ext cx="355600" cy="2413000"/>
          </a:xfrm>
          <a:custGeom>
            <a:avLst/>
            <a:gdLst/>
            <a:ahLst/>
            <a:cxnLst/>
            <a:rect l="l" t="t" r="r" b="b"/>
            <a:pathLst>
              <a:path w="355600" h="2413000">
                <a:moveTo>
                  <a:pt x="38100" y="0"/>
                </a:moveTo>
                <a:lnTo>
                  <a:pt x="317500" y="0"/>
                </a:lnTo>
                <a:arcTo wR="38100" hR="38100" stAng="16200000" swAng="5400000"/>
                <a:lnTo>
                  <a:pt x="355600" y="2413000"/>
                </a:lnTo>
                <a:lnTo>
                  <a:pt x="0" y="2413000"/>
                </a:lnTo>
                <a:lnTo>
                  <a:pt x="0" y="38100"/>
                </a:lnTo>
                <a:arcTo wR="38100" hR="38100" stAng="10800000" swAng="5400000"/>
                <a:close/>
              </a:path>
            </a:pathLst>
          </a:custGeom>
          <a:solidFill>
            <a:srgbClr val="D9531E"/>
          </a:solidFill>
          <a:ln/>
        </p:spPr>
        <p:txBody>
          <a:bodyPr/>
          <a:lstStyle/>
          <a:p>
            <a:endParaRPr lang="es-PE"/>
          </a:p>
        </p:txBody>
      </p:sp>
      <p:sp>
        <p:nvSpPr>
          <p:cNvPr id="6" name="Text 4"/>
          <p:cNvSpPr/>
          <p:nvPr/>
        </p:nvSpPr>
        <p:spPr>
          <a:xfrm>
            <a:off x="982980" y="5019991"/>
            <a:ext cx="1422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p>
        </p:txBody>
      </p:sp>
      <p:sp>
        <p:nvSpPr>
          <p:cNvPr id="7" name="Text 5"/>
          <p:cNvSpPr/>
          <p:nvPr/>
        </p:nvSpPr>
        <p:spPr>
          <a:xfrm>
            <a:off x="1392476" y="2717484"/>
            <a:ext cx="55949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26.4%</a:t>
            </a:r>
            <a:endParaRPr lang="en-US" sz="1200" dirty="0"/>
          </a:p>
        </p:txBody>
      </p:sp>
      <p:sp>
        <p:nvSpPr>
          <p:cNvPr id="8" name="Shape 6"/>
          <p:cNvSpPr/>
          <p:nvPr/>
        </p:nvSpPr>
        <p:spPr>
          <a:xfrm>
            <a:off x="1447800" y="2981644"/>
            <a:ext cx="355600" cy="1987550"/>
          </a:xfrm>
          <a:custGeom>
            <a:avLst/>
            <a:gdLst/>
            <a:ahLst/>
            <a:cxnLst/>
            <a:rect l="l" t="t" r="r" b="b"/>
            <a:pathLst>
              <a:path w="355600" h="1987550">
                <a:moveTo>
                  <a:pt x="38100" y="0"/>
                </a:moveTo>
                <a:lnTo>
                  <a:pt x="317500" y="0"/>
                </a:lnTo>
                <a:arcTo wR="38100" hR="38100" stAng="16200000" swAng="5400000"/>
                <a:lnTo>
                  <a:pt x="355600" y="1987550"/>
                </a:lnTo>
                <a:lnTo>
                  <a:pt x="0" y="1987550"/>
                </a:lnTo>
                <a:lnTo>
                  <a:pt x="0" y="38100"/>
                </a:lnTo>
                <a:arcTo wR="38100" hR="38100" stAng="10800000" swAng="5400000"/>
                <a:close/>
              </a:path>
            </a:pathLst>
          </a:custGeom>
          <a:solidFill>
            <a:srgbClr val="D9531E"/>
          </a:solidFill>
          <a:ln/>
        </p:spPr>
        <p:txBody>
          <a:bodyPr/>
          <a:lstStyle/>
          <a:p>
            <a:endParaRPr lang="es-PE"/>
          </a:p>
        </p:txBody>
      </p:sp>
      <p:sp>
        <p:nvSpPr>
          <p:cNvPr id="9" name="Text 7"/>
          <p:cNvSpPr/>
          <p:nvPr/>
        </p:nvSpPr>
        <p:spPr>
          <a:xfrm>
            <a:off x="1554480" y="5019991"/>
            <a:ext cx="1422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1968500" y="3339784"/>
            <a:ext cx="5485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18.1%</a:t>
            </a:r>
            <a:endParaRPr lang="en-US" sz="1200" dirty="0"/>
          </a:p>
        </p:txBody>
      </p:sp>
      <p:sp>
        <p:nvSpPr>
          <p:cNvPr id="11" name="Shape 9"/>
          <p:cNvSpPr/>
          <p:nvPr/>
        </p:nvSpPr>
        <p:spPr>
          <a:xfrm>
            <a:off x="2019300" y="3603944"/>
            <a:ext cx="355600" cy="1365250"/>
          </a:xfrm>
          <a:custGeom>
            <a:avLst/>
            <a:gdLst/>
            <a:ahLst/>
            <a:cxnLst/>
            <a:rect l="l" t="t" r="r" b="b"/>
            <a:pathLst>
              <a:path w="355600" h="1365250">
                <a:moveTo>
                  <a:pt x="38100" y="0"/>
                </a:moveTo>
                <a:lnTo>
                  <a:pt x="317500" y="0"/>
                </a:lnTo>
                <a:arcTo wR="38100" hR="38100" stAng="16200000" swAng="5400000"/>
                <a:lnTo>
                  <a:pt x="355600" y="1365250"/>
                </a:lnTo>
                <a:lnTo>
                  <a:pt x="0" y="1365250"/>
                </a:lnTo>
                <a:lnTo>
                  <a:pt x="0" y="38100"/>
                </a:lnTo>
                <a:arcTo wR="38100" hR="38100" stAng="10800000" swAng="5400000"/>
                <a:close/>
              </a:path>
            </a:pathLst>
          </a:custGeom>
          <a:solidFill>
            <a:srgbClr val="2A6FDB"/>
          </a:solidFill>
          <a:ln/>
        </p:spPr>
        <p:txBody>
          <a:bodyPr/>
          <a:lstStyle/>
          <a:p>
            <a:endParaRPr lang="es-PE"/>
          </a:p>
        </p:txBody>
      </p:sp>
      <p:sp>
        <p:nvSpPr>
          <p:cNvPr id="12" name="Text 10"/>
          <p:cNvSpPr/>
          <p:nvPr/>
        </p:nvSpPr>
        <p:spPr>
          <a:xfrm>
            <a:off x="2125980" y="5019991"/>
            <a:ext cx="1422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3</a:t>
            </a:r>
            <a:endParaRPr lang="en-US" sz="1200" dirty="0"/>
          </a:p>
        </p:txBody>
      </p:sp>
      <p:sp>
        <p:nvSpPr>
          <p:cNvPr id="13" name="Text 11"/>
          <p:cNvSpPr/>
          <p:nvPr/>
        </p:nvSpPr>
        <p:spPr>
          <a:xfrm>
            <a:off x="2540000" y="3523934"/>
            <a:ext cx="5485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15.7%</a:t>
            </a:r>
            <a:endParaRPr lang="en-US" sz="1200" dirty="0"/>
          </a:p>
        </p:txBody>
      </p:sp>
      <p:sp>
        <p:nvSpPr>
          <p:cNvPr id="14" name="Shape 12"/>
          <p:cNvSpPr/>
          <p:nvPr/>
        </p:nvSpPr>
        <p:spPr>
          <a:xfrm>
            <a:off x="2590800" y="3788094"/>
            <a:ext cx="355600" cy="1181100"/>
          </a:xfrm>
          <a:custGeom>
            <a:avLst/>
            <a:gdLst/>
            <a:ahLst/>
            <a:cxnLst/>
            <a:rect l="l" t="t" r="r" b="b"/>
            <a:pathLst>
              <a:path w="355600" h="1181100">
                <a:moveTo>
                  <a:pt x="38100" y="0"/>
                </a:moveTo>
                <a:lnTo>
                  <a:pt x="317500" y="0"/>
                </a:lnTo>
                <a:arcTo wR="38100" hR="38100" stAng="16200000" swAng="5400000"/>
                <a:lnTo>
                  <a:pt x="355600" y="1181100"/>
                </a:lnTo>
                <a:lnTo>
                  <a:pt x="0" y="1181100"/>
                </a:lnTo>
                <a:lnTo>
                  <a:pt x="0" y="38100"/>
                </a:lnTo>
                <a:arcTo wR="38100" hR="38100" stAng="10800000" swAng="5400000"/>
                <a:close/>
              </a:path>
            </a:pathLst>
          </a:custGeom>
          <a:solidFill>
            <a:srgbClr val="2A6FDB"/>
          </a:solidFill>
          <a:ln/>
        </p:spPr>
        <p:txBody>
          <a:bodyPr/>
          <a:lstStyle/>
          <a:p>
            <a:endParaRPr lang="es-PE"/>
          </a:p>
        </p:txBody>
      </p:sp>
      <p:sp>
        <p:nvSpPr>
          <p:cNvPr id="15" name="Text 13"/>
          <p:cNvSpPr/>
          <p:nvPr/>
        </p:nvSpPr>
        <p:spPr>
          <a:xfrm>
            <a:off x="2697480" y="5019991"/>
            <a:ext cx="1422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p>
        </p:txBody>
      </p:sp>
      <p:sp>
        <p:nvSpPr>
          <p:cNvPr id="16" name="Text 14"/>
          <p:cNvSpPr/>
          <p:nvPr/>
        </p:nvSpPr>
        <p:spPr>
          <a:xfrm>
            <a:off x="3111500" y="3822384"/>
            <a:ext cx="5485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11.7%</a:t>
            </a:r>
            <a:endParaRPr lang="en-US" sz="1200" dirty="0"/>
          </a:p>
        </p:txBody>
      </p:sp>
      <p:sp>
        <p:nvSpPr>
          <p:cNvPr id="17" name="Shape 15"/>
          <p:cNvSpPr/>
          <p:nvPr/>
        </p:nvSpPr>
        <p:spPr>
          <a:xfrm>
            <a:off x="3162300" y="4086541"/>
            <a:ext cx="355600" cy="882650"/>
          </a:xfrm>
          <a:custGeom>
            <a:avLst/>
            <a:gdLst/>
            <a:ahLst/>
            <a:cxnLst/>
            <a:rect l="l" t="t" r="r" b="b"/>
            <a:pathLst>
              <a:path w="355600" h="882650">
                <a:moveTo>
                  <a:pt x="38100" y="0"/>
                </a:moveTo>
                <a:lnTo>
                  <a:pt x="317500" y="0"/>
                </a:lnTo>
                <a:arcTo wR="38100" hR="38100" stAng="16200000" swAng="5400000"/>
                <a:lnTo>
                  <a:pt x="355600" y="882650"/>
                </a:lnTo>
                <a:lnTo>
                  <a:pt x="0" y="882650"/>
                </a:lnTo>
                <a:lnTo>
                  <a:pt x="0" y="38100"/>
                </a:lnTo>
                <a:arcTo wR="38100" hR="38100" stAng="10800000" swAng="5400000"/>
                <a:close/>
              </a:path>
            </a:pathLst>
          </a:custGeom>
          <a:solidFill>
            <a:srgbClr val="2A6FDB"/>
          </a:solidFill>
          <a:ln/>
        </p:spPr>
        <p:txBody>
          <a:bodyPr/>
          <a:lstStyle/>
          <a:p>
            <a:endParaRPr lang="es-PE"/>
          </a:p>
        </p:txBody>
      </p:sp>
      <p:sp>
        <p:nvSpPr>
          <p:cNvPr id="18" name="Text 16"/>
          <p:cNvSpPr/>
          <p:nvPr/>
        </p:nvSpPr>
        <p:spPr>
          <a:xfrm>
            <a:off x="3268980" y="5019991"/>
            <a:ext cx="1422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5</a:t>
            </a:r>
            <a:endParaRPr lang="en-US" sz="1200" dirty="0"/>
          </a:p>
        </p:txBody>
      </p:sp>
      <p:sp>
        <p:nvSpPr>
          <p:cNvPr id="19" name="Text 17"/>
          <p:cNvSpPr/>
          <p:nvPr/>
        </p:nvSpPr>
        <p:spPr>
          <a:xfrm>
            <a:off x="3692152" y="4076384"/>
            <a:ext cx="43881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8.3%</a:t>
            </a:r>
            <a:endParaRPr lang="en-US" sz="1200" dirty="0"/>
          </a:p>
        </p:txBody>
      </p:sp>
      <p:sp>
        <p:nvSpPr>
          <p:cNvPr id="20" name="Shape 18"/>
          <p:cNvSpPr/>
          <p:nvPr/>
        </p:nvSpPr>
        <p:spPr>
          <a:xfrm>
            <a:off x="3733800" y="4340541"/>
            <a:ext cx="355600" cy="628650"/>
          </a:xfrm>
          <a:custGeom>
            <a:avLst/>
            <a:gdLst/>
            <a:ahLst/>
            <a:cxnLst/>
            <a:rect l="l" t="t" r="r" b="b"/>
            <a:pathLst>
              <a:path w="355600" h="628650">
                <a:moveTo>
                  <a:pt x="38100" y="0"/>
                </a:moveTo>
                <a:lnTo>
                  <a:pt x="317500" y="0"/>
                </a:lnTo>
                <a:arcTo wR="38100" hR="38100" stAng="16200000" swAng="5400000"/>
                <a:lnTo>
                  <a:pt x="355600" y="628650"/>
                </a:lnTo>
                <a:lnTo>
                  <a:pt x="0" y="628650"/>
                </a:lnTo>
                <a:lnTo>
                  <a:pt x="0" y="38100"/>
                </a:lnTo>
                <a:arcTo wR="38100" hR="38100" stAng="10800000" swAng="5400000"/>
                <a:close/>
              </a:path>
            </a:pathLst>
          </a:custGeom>
          <a:solidFill>
            <a:srgbClr val="2A6FDB"/>
          </a:solidFill>
          <a:ln/>
        </p:spPr>
        <p:txBody>
          <a:bodyPr/>
          <a:lstStyle/>
          <a:p>
            <a:endParaRPr lang="es-PE"/>
          </a:p>
        </p:txBody>
      </p:sp>
      <p:sp>
        <p:nvSpPr>
          <p:cNvPr id="21" name="Text 19"/>
          <p:cNvSpPr/>
          <p:nvPr/>
        </p:nvSpPr>
        <p:spPr>
          <a:xfrm>
            <a:off x="3840480" y="5019991"/>
            <a:ext cx="1422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6</a:t>
            </a:r>
            <a:endParaRPr lang="en-US" sz="1200" dirty="0"/>
          </a:p>
        </p:txBody>
      </p:sp>
      <p:sp>
        <p:nvSpPr>
          <p:cNvPr id="22" name="Text 20"/>
          <p:cNvSpPr/>
          <p:nvPr/>
        </p:nvSpPr>
        <p:spPr>
          <a:xfrm>
            <a:off x="4263652" y="4374834"/>
            <a:ext cx="43881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4.4%</a:t>
            </a:r>
            <a:endParaRPr lang="en-US" sz="1200" dirty="0"/>
          </a:p>
        </p:txBody>
      </p:sp>
      <p:sp>
        <p:nvSpPr>
          <p:cNvPr id="23" name="Shape 21"/>
          <p:cNvSpPr/>
          <p:nvPr/>
        </p:nvSpPr>
        <p:spPr>
          <a:xfrm>
            <a:off x="4305300" y="4638991"/>
            <a:ext cx="355600" cy="330200"/>
          </a:xfrm>
          <a:custGeom>
            <a:avLst/>
            <a:gdLst/>
            <a:ahLst/>
            <a:cxnLst/>
            <a:rect l="l" t="t" r="r" b="b"/>
            <a:pathLst>
              <a:path w="355600" h="330200">
                <a:moveTo>
                  <a:pt x="38100" y="0"/>
                </a:moveTo>
                <a:lnTo>
                  <a:pt x="317500" y="0"/>
                </a:lnTo>
                <a:arcTo wR="38100" hR="38100" stAng="16200000" swAng="5400000"/>
                <a:lnTo>
                  <a:pt x="355600" y="330200"/>
                </a:lnTo>
                <a:lnTo>
                  <a:pt x="0" y="330200"/>
                </a:lnTo>
                <a:lnTo>
                  <a:pt x="0" y="38100"/>
                </a:lnTo>
                <a:arcTo wR="38100" hR="38100" stAng="10800000" swAng="5400000"/>
                <a:close/>
              </a:path>
            </a:pathLst>
          </a:custGeom>
          <a:solidFill>
            <a:srgbClr val="2A6FDB"/>
          </a:solidFill>
          <a:ln/>
        </p:spPr>
        <p:txBody>
          <a:bodyPr/>
          <a:lstStyle/>
          <a:p>
            <a:endParaRPr lang="es-PE"/>
          </a:p>
        </p:txBody>
      </p:sp>
      <p:sp>
        <p:nvSpPr>
          <p:cNvPr id="24" name="Text 22"/>
          <p:cNvSpPr/>
          <p:nvPr/>
        </p:nvSpPr>
        <p:spPr>
          <a:xfrm>
            <a:off x="4411980" y="5019991"/>
            <a:ext cx="1422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7</a:t>
            </a:r>
            <a:endParaRPr lang="en-US" sz="1200" dirty="0"/>
          </a:p>
        </p:txBody>
      </p:sp>
      <p:sp>
        <p:nvSpPr>
          <p:cNvPr id="25" name="Text 23"/>
          <p:cNvSpPr/>
          <p:nvPr/>
        </p:nvSpPr>
        <p:spPr>
          <a:xfrm>
            <a:off x="4835152" y="4311334"/>
            <a:ext cx="43881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5.2%</a:t>
            </a:r>
            <a:endParaRPr lang="en-US" sz="1200" dirty="0"/>
          </a:p>
        </p:txBody>
      </p:sp>
      <p:sp>
        <p:nvSpPr>
          <p:cNvPr id="26" name="Shape 24"/>
          <p:cNvSpPr/>
          <p:nvPr/>
        </p:nvSpPr>
        <p:spPr>
          <a:xfrm>
            <a:off x="4876800" y="4575491"/>
            <a:ext cx="355600" cy="393700"/>
          </a:xfrm>
          <a:custGeom>
            <a:avLst/>
            <a:gdLst/>
            <a:ahLst/>
            <a:cxnLst/>
            <a:rect l="l" t="t" r="r" b="b"/>
            <a:pathLst>
              <a:path w="355600" h="393700">
                <a:moveTo>
                  <a:pt x="38100" y="0"/>
                </a:moveTo>
                <a:lnTo>
                  <a:pt x="317500" y="0"/>
                </a:lnTo>
                <a:arcTo wR="38100" hR="38100" stAng="16200000" swAng="5400000"/>
                <a:lnTo>
                  <a:pt x="355600" y="393700"/>
                </a:lnTo>
                <a:lnTo>
                  <a:pt x="0" y="393700"/>
                </a:lnTo>
                <a:lnTo>
                  <a:pt x="0" y="38100"/>
                </a:lnTo>
                <a:arcTo wR="38100" hR="38100" stAng="10800000" swAng="5400000"/>
                <a:close/>
              </a:path>
            </a:pathLst>
          </a:custGeom>
          <a:solidFill>
            <a:srgbClr val="B5B0A4"/>
          </a:solidFill>
          <a:ln/>
        </p:spPr>
        <p:txBody>
          <a:bodyPr/>
          <a:lstStyle/>
          <a:p>
            <a:endParaRPr lang="es-PE"/>
          </a:p>
        </p:txBody>
      </p:sp>
      <p:sp>
        <p:nvSpPr>
          <p:cNvPr id="27" name="Text 25"/>
          <p:cNvSpPr/>
          <p:nvPr/>
        </p:nvSpPr>
        <p:spPr>
          <a:xfrm>
            <a:off x="4983480" y="5019991"/>
            <a:ext cx="1422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8</a:t>
            </a:r>
            <a:endParaRPr lang="en-US" sz="1200" dirty="0"/>
          </a:p>
        </p:txBody>
      </p:sp>
      <p:sp>
        <p:nvSpPr>
          <p:cNvPr id="28" name="Text 26"/>
          <p:cNvSpPr/>
          <p:nvPr/>
        </p:nvSpPr>
        <p:spPr>
          <a:xfrm>
            <a:off x="5406652" y="4470084"/>
            <a:ext cx="43881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3.1%</a:t>
            </a:r>
            <a:endParaRPr lang="en-US" sz="1200" dirty="0"/>
          </a:p>
        </p:txBody>
      </p:sp>
      <p:sp>
        <p:nvSpPr>
          <p:cNvPr id="29" name="Shape 27"/>
          <p:cNvSpPr/>
          <p:nvPr/>
        </p:nvSpPr>
        <p:spPr>
          <a:xfrm>
            <a:off x="5448300" y="4734241"/>
            <a:ext cx="355600" cy="234950"/>
          </a:xfrm>
          <a:custGeom>
            <a:avLst/>
            <a:gdLst/>
            <a:ahLst/>
            <a:cxnLst/>
            <a:rect l="l" t="t" r="r" b="b"/>
            <a:pathLst>
              <a:path w="355600" h="234950">
                <a:moveTo>
                  <a:pt x="38100" y="0"/>
                </a:moveTo>
                <a:lnTo>
                  <a:pt x="317500" y="0"/>
                </a:lnTo>
                <a:arcTo wR="38100" hR="38100" stAng="16200000" swAng="5400000"/>
                <a:lnTo>
                  <a:pt x="355600" y="234950"/>
                </a:lnTo>
                <a:lnTo>
                  <a:pt x="0" y="234950"/>
                </a:lnTo>
                <a:lnTo>
                  <a:pt x="0" y="38100"/>
                </a:lnTo>
                <a:arcTo wR="38100" hR="38100" stAng="10800000" swAng="5400000"/>
                <a:close/>
              </a:path>
            </a:pathLst>
          </a:custGeom>
          <a:solidFill>
            <a:srgbClr val="B5B0A4"/>
          </a:solidFill>
          <a:ln/>
        </p:spPr>
        <p:txBody>
          <a:bodyPr/>
          <a:lstStyle/>
          <a:p>
            <a:endParaRPr lang="es-PE"/>
          </a:p>
        </p:txBody>
      </p:sp>
      <p:sp>
        <p:nvSpPr>
          <p:cNvPr id="30" name="Text 28"/>
          <p:cNvSpPr/>
          <p:nvPr/>
        </p:nvSpPr>
        <p:spPr>
          <a:xfrm>
            <a:off x="5554980" y="5019991"/>
            <a:ext cx="1422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9</a:t>
            </a:r>
            <a:endParaRPr lang="en-US" sz="1200" dirty="0"/>
          </a:p>
        </p:txBody>
      </p:sp>
      <p:sp>
        <p:nvSpPr>
          <p:cNvPr id="31" name="Text 29"/>
          <p:cNvSpPr/>
          <p:nvPr/>
        </p:nvSpPr>
        <p:spPr>
          <a:xfrm>
            <a:off x="5978152" y="4508184"/>
            <a:ext cx="43881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2.6%</a:t>
            </a:r>
            <a:endParaRPr lang="en-US" sz="1200" dirty="0"/>
          </a:p>
        </p:txBody>
      </p:sp>
      <p:sp>
        <p:nvSpPr>
          <p:cNvPr id="32" name="Shape 30"/>
          <p:cNvSpPr/>
          <p:nvPr/>
        </p:nvSpPr>
        <p:spPr>
          <a:xfrm>
            <a:off x="6019800" y="4772341"/>
            <a:ext cx="355600" cy="196850"/>
          </a:xfrm>
          <a:custGeom>
            <a:avLst/>
            <a:gdLst/>
            <a:ahLst/>
            <a:cxnLst/>
            <a:rect l="l" t="t" r="r" b="b"/>
            <a:pathLst>
              <a:path w="355600" h="196850">
                <a:moveTo>
                  <a:pt x="38100" y="0"/>
                </a:moveTo>
                <a:lnTo>
                  <a:pt x="317500" y="0"/>
                </a:lnTo>
                <a:arcTo wR="38100" hR="38100" stAng="16200000" swAng="5400000"/>
                <a:lnTo>
                  <a:pt x="355600" y="196850"/>
                </a:lnTo>
                <a:lnTo>
                  <a:pt x="0" y="196850"/>
                </a:lnTo>
                <a:lnTo>
                  <a:pt x="0" y="38100"/>
                </a:lnTo>
                <a:arcTo wR="38100" hR="38100" stAng="10800000" swAng="5400000"/>
                <a:close/>
              </a:path>
            </a:pathLst>
          </a:custGeom>
          <a:solidFill>
            <a:srgbClr val="B5B0A4"/>
          </a:solidFill>
          <a:ln/>
        </p:spPr>
        <p:txBody>
          <a:bodyPr/>
          <a:lstStyle/>
          <a:p>
            <a:endParaRPr lang="es-PE"/>
          </a:p>
        </p:txBody>
      </p:sp>
      <p:sp>
        <p:nvSpPr>
          <p:cNvPr id="33" name="Text 31"/>
          <p:cNvSpPr/>
          <p:nvPr/>
        </p:nvSpPr>
        <p:spPr>
          <a:xfrm>
            <a:off x="6080760" y="5019991"/>
            <a:ext cx="23368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10</a:t>
            </a:r>
            <a:endParaRPr lang="en-US" sz="1200" dirty="0"/>
          </a:p>
        </p:txBody>
      </p:sp>
      <p:sp>
        <p:nvSpPr>
          <p:cNvPr id="34" name="Text 32"/>
          <p:cNvSpPr/>
          <p:nvPr/>
        </p:nvSpPr>
        <p:spPr>
          <a:xfrm>
            <a:off x="812800" y="5334955"/>
            <a:ext cx="58864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Tasa real de recompra por decil de score en prueba (1 = mayor score). Promedio: 12.8%.</a:t>
            </a:r>
            <a:endParaRPr lang="en-US" sz="1200" dirty="0"/>
          </a:p>
        </p:txBody>
      </p:sp>
      <p:sp>
        <p:nvSpPr>
          <p:cNvPr id="35" name="Shape 33"/>
          <p:cNvSpPr/>
          <p:nvPr/>
        </p:nvSpPr>
        <p:spPr>
          <a:xfrm>
            <a:off x="6937375" y="2295209"/>
            <a:ext cx="4438650" cy="1101090"/>
          </a:xfrm>
          <a:prstGeom prst="roundRect">
            <a:avLst>
              <a:gd name="adj" fmla="val 6632"/>
            </a:avLst>
          </a:prstGeom>
          <a:solidFill>
            <a:srgbClr val="FDFCF9"/>
          </a:solidFill>
          <a:ln w="6350">
            <a:solidFill>
              <a:srgbClr val="E3DFD5"/>
            </a:solidFill>
            <a:prstDash val="solid"/>
          </a:ln>
        </p:spPr>
        <p:txBody>
          <a:bodyPr/>
          <a:lstStyle/>
          <a:p>
            <a:endParaRPr lang="es-PE"/>
          </a:p>
        </p:txBody>
      </p:sp>
      <p:sp>
        <p:nvSpPr>
          <p:cNvPr id="36" name="Text 34"/>
          <p:cNvSpPr/>
          <p:nvPr/>
        </p:nvSpPr>
        <p:spPr>
          <a:xfrm>
            <a:off x="7142480" y="2474913"/>
            <a:ext cx="414929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Deciles 1–2: retener ya</a:t>
            </a:r>
            <a:endParaRPr lang="en-US" sz="1500" dirty="0"/>
          </a:p>
        </p:txBody>
      </p:sp>
      <p:sp>
        <p:nvSpPr>
          <p:cNvPr id="37" name="Text 35"/>
          <p:cNvSpPr/>
          <p:nvPr/>
        </p:nvSpPr>
        <p:spPr>
          <a:xfrm>
            <a:off x="7142480" y="2754313"/>
            <a:ext cx="414929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1,698 clientes recientes; 848 en el decil 1, de alta prioridad</a:t>
            </a:r>
            <a:endParaRPr lang="en-US" sz="1300" dirty="0"/>
          </a:p>
        </p:txBody>
      </p:sp>
      <p:sp>
        <p:nvSpPr>
          <p:cNvPr id="38" name="Shape 36"/>
          <p:cNvSpPr/>
          <p:nvPr/>
        </p:nvSpPr>
        <p:spPr>
          <a:xfrm>
            <a:off x="6937375" y="3529648"/>
            <a:ext cx="4438650" cy="1101090"/>
          </a:xfrm>
          <a:prstGeom prst="roundRect">
            <a:avLst>
              <a:gd name="adj" fmla="val 6632"/>
            </a:avLst>
          </a:prstGeom>
          <a:solidFill>
            <a:srgbClr val="FDFCF9"/>
          </a:solidFill>
          <a:ln w="6350">
            <a:solidFill>
              <a:srgbClr val="E3DFD5"/>
            </a:solidFill>
            <a:prstDash val="solid"/>
          </a:ln>
        </p:spPr>
        <p:txBody>
          <a:bodyPr/>
          <a:lstStyle/>
          <a:p>
            <a:endParaRPr lang="es-PE"/>
          </a:p>
        </p:txBody>
      </p:sp>
      <p:sp>
        <p:nvSpPr>
          <p:cNvPr id="39" name="Text 37"/>
          <p:cNvSpPr/>
          <p:nvPr/>
        </p:nvSpPr>
        <p:spPr>
          <a:xfrm>
            <a:off x="7142480" y="3709352"/>
            <a:ext cx="414929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Deciles 8–10: no contactar</a:t>
            </a:r>
            <a:endParaRPr lang="en-US" sz="1500" dirty="0"/>
          </a:p>
        </p:txBody>
      </p:sp>
      <p:sp>
        <p:nvSpPr>
          <p:cNvPr id="40" name="Text 38"/>
          <p:cNvSpPr/>
          <p:nvPr/>
        </p:nvSpPr>
        <p:spPr>
          <a:xfrm>
            <a:off x="7142480" y="3988752"/>
            <a:ext cx="414929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Recompran entre 2.6% y 5.2%: se ahorra costo de campaña</a:t>
            </a:r>
            <a:endParaRPr lang="en-US" sz="1300" dirty="0"/>
          </a:p>
        </p:txBody>
      </p:sp>
      <p:sp>
        <p:nvSpPr>
          <p:cNvPr id="41" name="Shape 39"/>
          <p:cNvSpPr/>
          <p:nvPr/>
        </p:nvSpPr>
        <p:spPr>
          <a:xfrm>
            <a:off x="6937375" y="4764088"/>
            <a:ext cx="4438650" cy="869950"/>
          </a:xfrm>
          <a:prstGeom prst="roundRect">
            <a:avLst>
              <a:gd name="adj" fmla="val 8394"/>
            </a:avLst>
          </a:prstGeom>
          <a:solidFill>
            <a:srgbClr val="FDFCF9"/>
          </a:solidFill>
          <a:ln w="6350">
            <a:solidFill>
              <a:srgbClr val="E3DFD5"/>
            </a:solidFill>
            <a:prstDash val="solid"/>
          </a:ln>
        </p:spPr>
        <p:txBody>
          <a:bodyPr/>
          <a:lstStyle/>
          <a:p>
            <a:endParaRPr lang="es-PE"/>
          </a:p>
        </p:txBody>
      </p:sp>
      <p:sp>
        <p:nvSpPr>
          <p:cNvPr id="42" name="Text 40"/>
          <p:cNvSpPr/>
          <p:nvPr/>
        </p:nvSpPr>
        <p:spPr>
          <a:xfrm>
            <a:off x="7142480" y="4943791"/>
            <a:ext cx="414929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Primeros 30 días: onboarding</a:t>
            </a:r>
            <a:endParaRPr lang="en-US" sz="1500" dirty="0"/>
          </a:p>
        </p:txBody>
      </p:sp>
      <p:sp>
        <p:nvSpPr>
          <p:cNvPr id="43" name="Text 41"/>
          <p:cNvSpPr/>
          <p:nvPr/>
        </p:nvSpPr>
        <p:spPr>
          <a:xfrm>
            <a:off x="7142480" y="5223191"/>
            <a:ext cx="414929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Cuanto antes compra tras registrarse, más recompra</a:t>
            </a:r>
            <a:endParaRPr lang="en-US" sz="1300" dirty="0"/>
          </a:p>
        </p:txBody>
      </p:sp>
      <p:sp>
        <p:nvSpPr>
          <p:cNvPr id="44" name="Text 42"/>
          <p:cNvSpPr/>
          <p:nvPr/>
        </p:nvSpPr>
        <p:spPr>
          <a:xfrm>
            <a:off x="812800" y="6238242"/>
            <a:ext cx="25119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The Look · Recompra a 60 días</a:t>
            </a:r>
            <a:endParaRPr lang="en-US" sz="1200" dirty="0"/>
          </a:p>
        </p:txBody>
      </p:sp>
      <p:sp>
        <p:nvSpPr>
          <p:cNvPr id="45" name="Text 43"/>
          <p:cNvSpPr/>
          <p:nvPr/>
        </p:nvSpPr>
        <p:spPr>
          <a:xfrm>
            <a:off x="11236960" y="6238242"/>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654304" y="380998"/>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461A"/>
                </a:solidFill>
                <a:latin typeface="IBM Plex Sans" pitchFamily="34" charset="0"/>
                <a:ea typeface="IBM Plex Sans" pitchFamily="34" charset="-122"/>
                <a:cs typeface="IBM Plex Sans" pitchFamily="34" charset="-120"/>
              </a:rPr>
              <a:t>ARQUITECTURA EN AWS</a:t>
            </a:r>
            <a:endParaRPr lang="en-US" sz="1200" dirty="0"/>
          </a:p>
        </p:txBody>
      </p:sp>
      <p:sp>
        <p:nvSpPr>
          <p:cNvPr id="55" name="Text 45"/>
          <p:cNvSpPr/>
          <p:nvPr/>
        </p:nvSpPr>
        <p:spPr>
          <a:xfrm>
            <a:off x="812800" y="6238242"/>
            <a:ext cx="25119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The Look · Recompra a 60 días</a:t>
            </a:r>
            <a:endParaRPr lang="en-US" sz="1200" dirty="0"/>
          </a:p>
        </p:txBody>
      </p:sp>
      <p:sp>
        <p:nvSpPr>
          <p:cNvPr id="56" name="Text 46"/>
          <p:cNvSpPr/>
          <p:nvPr/>
        </p:nvSpPr>
        <p:spPr>
          <a:xfrm>
            <a:off x="11236960" y="6238242"/>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pic>
        <p:nvPicPr>
          <p:cNvPr id="60" name="Imagen 59">
            <a:extLst>
              <a:ext uri="{FF2B5EF4-FFF2-40B4-BE49-F238E27FC236}">
                <a16:creationId xmlns:a16="http://schemas.microsoft.com/office/drawing/2014/main" id="{450FA291-87F9-24C7-EA4D-7FB1901CB8F1}"/>
              </a:ext>
            </a:extLst>
          </p:cNvPr>
          <p:cNvPicPr>
            <a:picLocks noChangeAspect="1"/>
          </p:cNvPicPr>
          <p:nvPr/>
        </p:nvPicPr>
        <p:blipFill>
          <a:blip r:embed="rId3"/>
          <a:stretch>
            <a:fillRect/>
          </a:stretch>
        </p:blipFill>
        <p:spPr>
          <a:xfrm>
            <a:off x="1598262" y="832279"/>
            <a:ext cx="9023726" cy="53165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A5D"/>
                </a:solidFill>
                <a:latin typeface="IBM Plex Sans" pitchFamily="34" charset="0"/>
                <a:ea typeface="IBM Plex Sans" pitchFamily="34" charset="-122"/>
                <a:cs typeface="IBM Plex Sans" pitchFamily="34" charset="-120"/>
              </a:rPr>
              <a:t>CIERRE</a:t>
            </a:r>
            <a:endParaRPr lang="en-US" sz="1200" dirty="0"/>
          </a:p>
        </p:txBody>
      </p:sp>
      <p:sp>
        <p:nvSpPr>
          <p:cNvPr id="3" name="Text 1"/>
          <p:cNvSpPr>
            <a:spLocks noGrp="1"/>
          </p:cNvSpPr>
          <p:nvPr>
            <p:ph type="title"/>
          </p:nvPr>
        </p:nvSpPr>
        <p:spPr>
          <a:xfrm>
            <a:off x="805180" y="1322462"/>
            <a:ext cx="10883392" cy="480536"/>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F6F4EF"/>
                </a:solidFill>
                <a:latin typeface="Source Serif 4" pitchFamily="18" charset="0"/>
                <a:ea typeface="Source Serif 4" pitchFamily="18" charset="-122"/>
                <a:cs typeface="Source Serif 4" pitchFamily="18" charset="-120"/>
              </a:rPr>
              <a:t>Recomendación y próximos pasos</a:t>
            </a:r>
            <a:endParaRPr lang="en-US" sz="3200" dirty="0"/>
          </a:p>
        </p:txBody>
      </p:sp>
      <p:sp>
        <p:nvSpPr>
          <p:cNvPr id="4" name="Text 2"/>
          <p:cNvSpPr/>
          <p:nvPr/>
        </p:nvSpPr>
        <p:spPr>
          <a:xfrm>
            <a:off x="805180" y="2630512"/>
            <a:ext cx="520623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8A5D"/>
                </a:solidFill>
                <a:latin typeface="IBM Plex Sans" pitchFamily="34" charset="0"/>
                <a:ea typeface="IBM Plex Sans" pitchFamily="34" charset="-122"/>
                <a:cs typeface="IBM Plex Sans" pitchFamily="34" charset="-120"/>
              </a:rPr>
              <a:t>Recomendación</a:t>
            </a:r>
            <a:endParaRPr lang="en-US" sz="1600" dirty="0"/>
          </a:p>
        </p:txBody>
      </p:sp>
      <p:sp>
        <p:nvSpPr>
          <p:cNvPr id="5" name="Text 3"/>
          <p:cNvSpPr/>
          <p:nvPr/>
        </p:nvSpPr>
        <p:spPr>
          <a:xfrm>
            <a:off x="862171" y="3026748"/>
            <a:ext cx="5141627" cy="1572260"/>
          </a:xfrm>
          <a:prstGeom prst="rect">
            <a:avLst/>
          </a:prstGeom>
          <a:noFill/>
          <a:ln/>
        </p:spPr>
        <p:txBody>
          <a:bodyPr wrap="square" lIns="0" tIns="0" rIns="0" bIns="0" rtlCol="0" anchor="t">
            <a:normAutofit/>
          </a:bodyPr>
          <a:lstStyle/>
          <a:p>
            <a:pPr marL="197009" indent="-197009" algn="l">
              <a:lnSpc>
                <a:spcPts val="2030"/>
              </a:lnSpc>
              <a:buSzPct val="100000"/>
              <a:buFontTx/>
              <a:buAutoNum type="arabicPeriod"/>
            </a:pPr>
            <a:r>
              <a:rPr lang="en-US" sz="1400" dirty="0">
                <a:solidFill>
                  <a:srgbClr val="DCE2EC"/>
                </a:solidFill>
                <a:latin typeface="IBM Plex Sans" pitchFamily="34" charset="0"/>
                <a:ea typeface="IBM Plex Sans" pitchFamily="34" charset="-122"/>
                <a:cs typeface="IBM Plex Sans" pitchFamily="34" charset="-120"/>
              </a:rPr>
              <a:t>Lanzar la regla simple como v1: rinde más y se explica en una frase</a:t>
            </a:r>
            <a:endParaRPr lang="en-US" sz="1400" dirty="0"/>
          </a:p>
          <a:p>
            <a:pPr marL="197009" indent="-197009" algn="l">
              <a:lnSpc>
                <a:spcPts val="2030"/>
              </a:lnSpc>
              <a:buSzPct val="100000"/>
              <a:buFontTx/>
              <a:buAutoNum type="arabicPeriod"/>
            </a:pPr>
            <a:r>
              <a:rPr lang="en-US" sz="1400" dirty="0">
                <a:solidFill>
                  <a:srgbClr val="DCE2EC"/>
                </a:solidFill>
                <a:latin typeface="IBM Plex Sans" pitchFamily="34" charset="0"/>
                <a:ea typeface="IBM Plex Sans" pitchFamily="34" charset="-122"/>
                <a:cs typeface="IBM Plex Sans" pitchFamily="34" charset="-120"/>
              </a:rPr>
              <a:t>Medir el impacto con un grupo de control en la primera campaña</a:t>
            </a:r>
            <a:endParaRPr lang="en-US" sz="1400" dirty="0"/>
          </a:p>
          <a:p>
            <a:pPr marL="197009" indent="-197009" algn="l">
              <a:lnSpc>
                <a:spcPts val="2030"/>
              </a:lnSpc>
              <a:buSzPct val="100000"/>
              <a:buFontTx/>
              <a:buAutoNum type="arabicPeriod"/>
            </a:pPr>
            <a:r>
              <a:rPr lang="en-US" sz="1400" dirty="0">
                <a:solidFill>
                  <a:srgbClr val="DCE2EC"/>
                </a:solidFill>
                <a:latin typeface="IBM Plex Sans" pitchFamily="34" charset="0"/>
                <a:ea typeface="IBM Plex Sans" pitchFamily="34" charset="-122"/>
                <a:cs typeface="IBM Plex Sans" pitchFamily="34" charset="-120"/>
              </a:rPr>
              <a:t>Mantener el pipeline de ML como retador: entra solo si supera a la regla</a:t>
            </a:r>
            <a:endParaRPr lang="en-US" sz="1400" dirty="0"/>
          </a:p>
        </p:txBody>
      </p:sp>
      <p:sp>
        <p:nvSpPr>
          <p:cNvPr id="6" name="Text 4"/>
          <p:cNvSpPr/>
          <p:nvPr/>
        </p:nvSpPr>
        <p:spPr>
          <a:xfrm>
            <a:off x="6316980" y="2630512"/>
            <a:ext cx="520623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8A5D"/>
                </a:solidFill>
                <a:latin typeface="IBM Plex Sans" pitchFamily="34" charset="0"/>
                <a:ea typeface="IBM Plex Sans" pitchFamily="34" charset="-122"/>
                <a:cs typeface="IBM Plex Sans" pitchFamily="34" charset="-120"/>
              </a:rPr>
              <a:t>Limitaciones y próximos pasos</a:t>
            </a:r>
            <a:endParaRPr lang="en-US" sz="1600" dirty="0"/>
          </a:p>
        </p:txBody>
      </p:sp>
      <p:sp>
        <p:nvSpPr>
          <p:cNvPr id="7" name="Text 5"/>
          <p:cNvSpPr/>
          <p:nvPr/>
        </p:nvSpPr>
        <p:spPr>
          <a:xfrm>
            <a:off x="6395212" y="3026748"/>
            <a:ext cx="5120386" cy="1572260"/>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DCE2EC"/>
                </a:solidFill>
                <a:latin typeface="IBM Plex Sans" pitchFamily="34" charset="0"/>
                <a:ea typeface="IBM Plex Sans" pitchFamily="34" charset="-122"/>
                <a:cs typeface="IBM Plex Sans" pitchFamily="34" charset="-120"/>
              </a:rPr>
              <a:t>Señal concentrada en una variable con drift: validar con datos reales</a:t>
            </a:r>
            <a:endParaRPr lang="en-US" sz="1400" dirty="0"/>
          </a:p>
          <a:p>
            <a:pPr marL="175768" indent="-175768" algn="l">
              <a:lnSpc>
                <a:spcPts val="2030"/>
              </a:lnSpc>
              <a:buSzPct val="100000"/>
              <a:buChar char="•"/>
            </a:pPr>
            <a:r>
              <a:rPr lang="en-US" sz="1400" dirty="0">
                <a:solidFill>
                  <a:srgbClr val="DCE2EC"/>
                </a:solidFill>
                <a:latin typeface="IBM Plex Sans" pitchFamily="34" charset="0"/>
                <a:ea typeface="IBM Plex Sans" pitchFamily="34" charset="-122"/>
                <a:cs typeface="IBM Plex Sans" pitchFamily="34" charset="-120"/>
              </a:rPr>
              <a:t>La regla surgió del período de prueba: backtesting con varias fechas de corte</a:t>
            </a:r>
            <a:endParaRPr lang="en-US" sz="1400" dirty="0"/>
          </a:p>
          <a:p>
            <a:pPr marL="175768" indent="-175768" algn="l">
              <a:lnSpc>
                <a:spcPts val="2030"/>
              </a:lnSpc>
              <a:buSzPct val="100000"/>
              <a:buChar char="•"/>
            </a:pPr>
            <a:r>
              <a:rPr lang="en-US" sz="1400" dirty="0">
                <a:solidFill>
                  <a:srgbClr val="DCE2EC"/>
                </a:solidFill>
                <a:latin typeface="IBM Plex Sans" pitchFamily="34" charset="0"/>
                <a:ea typeface="IBM Plex Sans" pitchFamily="34" charset="-122"/>
                <a:cs typeface="IBM Plex Sans" pitchFamily="34" charset="-120"/>
              </a:rPr>
              <a:t>Probabilidades sin calibrar: calibrar con cohortes recientes</a:t>
            </a:r>
            <a:endParaRPr lang="en-US" sz="1400" dirty="0"/>
          </a:p>
          <a:p>
            <a:pPr marL="175768" indent="-175768" algn="l">
              <a:lnSpc>
                <a:spcPts val="2030"/>
              </a:lnSpc>
              <a:buSzPct val="100000"/>
              <a:buChar char="•"/>
            </a:pPr>
            <a:r>
              <a:rPr lang="en-US" sz="1400" dirty="0">
                <a:solidFill>
                  <a:srgbClr val="DCE2EC"/>
                </a:solidFill>
                <a:latin typeface="IBM Plex Sans" pitchFamily="34" charset="0"/>
                <a:ea typeface="IBM Plex Sans" pitchFamily="34" charset="-122"/>
                <a:cs typeface="IBM Plex Sans" pitchFamily="34" charset="-120"/>
              </a:rPr>
              <a:t>Más variables: sesiones anónimas, margen y campañas</a:t>
            </a:r>
            <a:endParaRPr lang="en-US" sz="1400" dirty="0"/>
          </a:p>
        </p:txBody>
      </p:sp>
      <p:sp>
        <p:nvSpPr>
          <p:cNvPr id="8" name="Text 6"/>
          <p:cNvSpPr/>
          <p:nvPr/>
        </p:nvSpPr>
        <p:spPr>
          <a:xfrm>
            <a:off x="812800" y="6238242"/>
            <a:ext cx="25119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5B8"/>
                </a:solidFill>
                <a:latin typeface="IBM Plex Sans" pitchFamily="34" charset="0"/>
                <a:ea typeface="IBM Plex Sans" pitchFamily="34" charset="-122"/>
                <a:cs typeface="IBM Plex Sans" pitchFamily="34" charset="-120"/>
              </a:rPr>
              <a:t>The Look · Recompra a 60 días</a:t>
            </a:r>
            <a:endParaRPr lang="en-US" sz="1200" dirty="0"/>
          </a:p>
        </p:txBody>
      </p:sp>
      <p:sp>
        <p:nvSpPr>
          <p:cNvPr id="9" name="Text 7"/>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AA5B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theme/theme1.xml><?xml version="1.0" encoding="utf-8"?>
<a:theme xmlns:a="http://schemas.openxmlformats.org/drawingml/2006/main" name="The Look · Recompra a 60 días">
  <a:themeElements>
    <a:clrScheme name="The Look · Recompra a 60 días">
      <a:dk1>
        <a:srgbClr val="14213D"/>
      </a:dk1>
      <a:lt1>
        <a:srgbClr val="F6F4EF"/>
      </a:lt1>
      <a:dk2>
        <a:srgbClr val="4D566A"/>
      </a:dk2>
      <a:lt2>
        <a:srgbClr val="DFDFDD"/>
      </a:lt2>
      <a:accent1>
        <a:srgbClr val="B4461A"/>
      </a:accent1>
      <a:accent2>
        <a:srgbClr val="D9531E"/>
      </a:accent2>
      <a:accent3>
        <a:srgbClr val="2A6FDB"/>
      </a:accent3>
      <a:accent4>
        <a:srgbClr val="F08A5D"/>
      </a:accent4>
      <a:accent5>
        <a:srgbClr val="4A5568"/>
      </a:accent5>
      <a:accent6>
        <a:srgbClr val="6B7280"/>
      </a:accent6>
      <a:hlink>
        <a:srgbClr val="0563C1"/>
      </a:hlink>
      <a:folHlink>
        <a:srgbClr val="954F72"/>
      </a:folHlink>
    </a:clrScheme>
    <a:fontScheme name="The Look · Recompra a 60 día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2113</Words>
  <Application>Microsoft Office PowerPoint</Application>
  <PresentationFormat>Panorámica</PresentationFormat>
  <Paragraphs>203</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IBM Plex Sans</vt:lpstr>
      <vt:lpstr>Source Serif 4</vt:lpstr>
      <vt:lpstr>The Look · Recompra a 60 días</vt:lpstr>
      <vt:lpstr>¿Quién vuelve a comprar en los 60 días siguientes a su primera compra?</vt:lpstr>
      <vt:lpstr>Priorizar, el mismo día de su primera compra, a quién retener</vt:lpstr>
      <vt:lpstr>Datos limpios: 14 de 15 controles de calidad en cero</vt:lpstr>
      <vt:lpstr>La recompra es poco frecuente y se triplicó en las cohortes recientes</vt:lpstr>
      <vt:lpstr>Entrenar con el pasado y evaluar con el futuro</vt:lpstr>
      <vt:lpstr>Una regla simple supera a todos los modelos</vt:lpstr>
      <vt:lpstr>Casi toda la señal está en los días entre registro y primera compra</vt:lpstr>
      <vt:lpstr>Contactar al 20% con mayor score capta el 46% de las recompras</vt:lpstr>
      <vt:lpstr>Presentación de PowerPoint</vt:lpstr>
      <vt:lpstr>Recomendación y próximos pasos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Look · Recompra a 60 días</dc:title>
  <dc:subject/>
  <dc:creator/>
  <cp:lastModifiedBy>CCOMPI GUERRERO, Williams Alberto</cp:lastModifiedBy>
  <cp:revision>5</cp:revision>
  <dcterms:created xsi:type="dcterms:W3CDTF">2026-10-25T17:48:42Z</dcterms:created>
  <dcterms:modified xsi:type="dcterms:W3CDTF">2026-10-26T02:28:43Z</dcterms:modified>
</cp:coreProperties>
</file>